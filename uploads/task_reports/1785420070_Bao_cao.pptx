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84" r:id="rId3"/>
    <p:sldId id="270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79" r:id="rId13"/>
    <p:sldId id="297" r:id="rId14"/>
    <p:sldId id="296" r:id="rId15"/>
    <p:sldId id="271" r:id="rId16"/>
    <p:sldId id="272" r:id="rId17"/>
    <p:sldId id="273" r:id="rId18"/>
    <p:sldId id="293" r:id="rId19"/>
    <p:sldId id="274" r:id="rId20"/>
    <p:sldId id="277" r:id="rId21"/>
    <p:sldId id="278" r:id="rId22"/>
    <p:sldId id="298" r:id="rId23"/>
    <p:sldId id="299" r:id="rId24"/>
    <p:sldId id="312" r:id="rId25"/>
    <p:sldId id="313" r:id="rId26"/>
    <p:sldId id="314" r:id="rId27"/>
    <p:sldId id="315" r:id="rId28"/>
    <p:sldId id="300" r:id="rId29"/>
    <p:sldId id="280" r:id="rId30"/>
    <p:sldId id="301" r:id="rId31"/>
    <p:sldId id="311" r:id="rId32"/>
    <p:sldId id="305" r:id="rId33"/>
    <p:sldId id="283" r:id="rId34"/>
    <p:sldId id="295" r:id="rId35"/>
    <p:sldId id="261" r:id="rId36"/>
  </p:sldIdLst>
  <p:sldSz cx="12192000" cy="6858000"/>
  <p:notesSz cx="6858000" cy="9144000"/>
  <p:embeddedFontLst>
    <p:embeddedFont>
      <p:font typeface="Barlow" panose="00000500000000000000" pitchFamily="2" charset="0"/>
      <p:regular r:id="rId37"/>
      <p:bold r:id="rId38"/>
      <p:italic r:id="rId39"/>
      <p:boldItalic r:id="rId40"/>
    </p:embeddedFont>
    <p:embeddedFont>
      <p:font typeface="K2D" panose="020B0604020202020204" charset="-34"/>
      <p:regular r:id="rId41"/>
      <p:bold r:id="rId42"/>
      <p:italic r:id="rId43"/>
      <p:boldItalic r:id="rId44"/>
    </p:embeddedFont>
    <p:embeddedFont>
      <p:font typeface="Readex Pro" panose="020B0604020202020204" charset="-78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3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SA_Laboratories" TargetMode="External"/><Relationship Id="rId2" Type="http://schemas.openxmlformats.org/officeDocument/2006/relationships/hyperlink" Target="https://en.wikipedia.org/wiki/Public-Key_Cryptography_Standard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Internet_Engineering_Task_Force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BKDF2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powershell/ps_encpass" TargetMode="External"/><Relationship Id="rId2" Type="http://schemas.openxmlformats.org/officeDocument/2006/relationships/hyperlink" Target="https://en.wikipedia.org/wiki/PBKDF2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3147" y="2458688"/>
            <a:ext cx="8025705" cy="1450838"/>
          </a:xfrm>
        </p:spPr>
        <p:txBody>
          <a:bodyPr/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DBF8C5-42D0-C974-C836-DE4B0E1E3A5F}"/>
              </a:ext>
            </a:extLst>
          </p:cNvPr>
          <p:cNvSpPr txBox="1">
            <a:spLocks/>
          </p:cNvSpPr>
          <p:nvPr/>
        </p:nvSpPr>
        <p:spPr>
          <a:xfrm>
            <a:off x="378756" y="4663824"/>
            <a:ext cx="8025705" cy="14508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K2D" panose="00000500000000000000" pitchFamily="2" charset="-34"/>
                <a:ea typeface="+mj-ea"/>
                <a:cs typeface="K2D" panose="00000500000000000000" pitchFamily="2" charset="-34"/>
              </a:defRPr>
            </a:lvl1pPr>
          </a:lstStyle>
          <a:p>
            <a:pPr algn="l"/>
            <a:r>
              <a:rPr lang="en-US" sz="2000" b="0" dirty="0" err="1"/>
              <a:t>Người</a:t>
            </a:r>
            <a:r>
              <a:rPr lang="en-US" sz="2000" b="0" dirty="0"/>
              <a:t> </a:t>
            </a:r>
            <a:r>
              <a:rPr lang="en-US" sz="2000" b="0" dirty="0" err="1"/>
              <a:t>thực</a:t>
            </a:r>
            <a:r>
              <a:rPr lang="en-US" sz="2000" b="0" dirty="0"/>
              <a:t> </a:t>
            </a:r>
            <a:r>
              <a:rPr lang="en-US" sz="2000" b="0" dirty="0" err="1"/>
              <a:t>hiện</a:t>
            </a:r>
            <a:r>
              <a:rPr lang="en-US" sz="2000" b="0" dirty="0"/>
              <a:t>: Nguyễn Thị Trúc Ngân</a:t>
            </a:r>
          </a:p>
          <a:p>
            <a:pPr algn="l"/>
            <a:r>
              <a:rPr lang="en-US" sz="2000" b="0" dirty="0" err="1"/>
              <a:t>Mã</a:t>
            </a:r>
            <a:r>
              <a:rPr lang="en-US" sz="2000" b="0" dirty="0"/>
              <a:t> </a:t>
            </a:r>
            <a:r>
              <a:rPr lang="en-US" sz="2000" b="0" dirty="0" err="1"/>
              <a:t>số</a:t>
            </a:r>
            <a:r>
              <a:rPr lang="en-US" sz="2000" b="0" dirty="0"/>
              <a:t> </a:t>
            </a:r>
            <a:r>
              <a:rPr lang="en-US" sz="2000" b="0" dirty="0" err="1"/>
              <a:t>sinh</a:t>
            </a:r>
            <a:r>
              <a:rPr lang="en-US" sz="2000" b="0" dirty="0"/>
              <a:t> </a:t>
            </a:r>
            <a:r>
              <a:rPr lang="en-US" sz="2000" b="0" dirty="0" err="1"/>
              <a:t>viên</a:t>
            </a:r>
            <a:r>
              <a:rPr lang="en-US" sz="2000" b="0" dirty="0"/>
              <a:t>: B2304071</a:t>
            </a:r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65FE-9D60-FFB5-3323-2B5B6B3D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9698-4422-D9A2-22D3-8B51D0C39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449" y="2101537"/>
            <a:ext cx="7811101" cy="1425434"/>
          </a:xfrm>
        </p:spPr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8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743A-4EC9-B697-4BDE-E2895596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F2EE-E121-2C71-6996-FF5E1AD0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3ED8A-34D5-C905-92FB-95E2A23DC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290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1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C9EB-28E7-3966-13AF-AD9EE3EA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DAA0-0B0A-126E-AF31-C61BAB6CC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1963" y="2101537"/>
            <a:ext cx="7448073" cy="1327463"/>
          </a:xfrm>
        </p:spPr>
        <p:txBody>
          <a:bodyPr/>
          <a:lstStyle/>
          <a:p>
            <a:r>
              <a:rPr lang="en-US" dirty="0"/>
              <a:t>CƠ SỞ LÝ THUYẾT</a:t>
            </a:r>
          </a:p>
        </p:txBody>
      </p:sp>
    </p:spTree>
    <p:extLst>
      <p:ext uri="{BB962C8B-B14F-4D97-AF65-F5344CB8AC3E}">
        <p14:creationId xmlns:p14="http://schemas.microsoft.com/office/powerpoint/2010/main" val="10767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F743-C5EC-27B4-A71F-4B6967BE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B53B-48DD-701E-DBFE-5A4345C4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18AF1-B01B-0A5A-33B7-3E588D7F1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rm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Bảo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Bảo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(Confidentiality):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(Integrity):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(Availability):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Các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43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2C80-6F85-23D0-00D6-E25B3AAF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0DD4-5A62-7C1F-6C07-8891F064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0F14F-0AF0-EFD3-7178-16B205F34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(Classical Cryptography)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(Hash Function)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(Symmetric Encryption)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(Asymmetric Encryption)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 (Hybrid Encryption)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2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F8D7-FD4D-AAA8-FB9B-C9A796FC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1CE0-C699-DD40-E6FF-CA01A918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972F-EF79-D3B2-40F8-4162861AF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(Classical Cryptography):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Nguyên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</a:t>
            </a:r>
          </a:p>
          <a:p>
            <a:r>
              <a:rPr lang="en-US" dirty="0"/>
              <a:t>							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ss&#10;">
            <a:extLst>
              <a:ext uri="{FF2B5EF4-FFF2-40B4-BE49-F238E27FC236}">
                <a16:creationId xmlns:a16="http://schemas.microsoft.com/office/drawing/2014/main" id="{73CE2B94-94F6-490B-CA1A-C971291C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4584577"/>
            <a:ext cx="4829175" cy="1287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80B837-4D43-FBCF-B63B-97A4C87F18F2}"/>
              </a:ext>
            </a:extLst>
          </p:cNvPr>
          <p:cNvSpPr/>
          <p:nvPr/>
        </p:nvSpPr>
        <p:spPr>
          <a:xfrm>
            <a:off x="8141444" y="6038607"/>
            <a:ext cx="1595535" cy="242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Caesar</a:t>
            </a:r>
          </a:p>
        </p:txBody>
      </p:sp>
    </p:spTree>
    <p:extLst>
      <p:ext uri="{BB962C8B-B14F-4D97-AF65-F5344CB8AC3E}">
        <p14:creationId xmlns:p14="http://schemas.microsoft.com/office/powerpoint/2010/main" val="329831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B99B-2F0D-4FBC-27CE-68AF79A3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27CA-51EE-B449-F32B-7E821EFF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4731-C5AF-B431-D20D-D2AEFA316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(Hash Function)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(Hash Value)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(Hash Function)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SHA-384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SHA-512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C9A47F-1C5A-84ED-2A5E-27D07F52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05" y="4688244"/>
            <a:ext cx="4614695" cy="16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4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E704-B91A-684B-7F5C-58B2F0A8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8353-A7F9-03E8-BB1C-81DEF355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AFA6-4DD4-CD07-72EF-DAFED090C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(Symmetric Encryption)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(Secret Key)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(Data Encryption Standard)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3DES (Triple DES)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(Advanced Encryption Standard)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C715F-194E-1E6B-EB68-176C9206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231" y="4677436"/>
            <a:ext cx="4869569" cy="145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2A87-1A1C-07C6-E80A-4A0C0585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D1D4-4F57-C874-8FF9-303A0E8E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1611D-2772-E3D2-BDD9-78E792857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(Asymmetric Encryption)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(Public Key):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(Private Key):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ElGamal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Cryptography (ECC)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575FF-362B-6314-C516-51172847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031" y="4894684"/>
            <a:ext cx="5523769" cy="141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57B5-EF7B-C9A1-1E15-032CA9C7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2619-A917-4ABE-E226-CD13A6BB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BAB9A-9898-0C53-A870-AA75FA043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94122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 (Hybrid Encryption)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SSL/TLS, HTTPS, PGP (Pretty Good Privacy),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+ RSA , AES + ECC (Elliptic Curve Cryptography)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26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05F5-7D85-9BDD-986A-A91E7CA8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863E-82AB-40C7-D3ED-4B5BC39C0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475" y="2199508"/>
            <a:ext cx="7873049" cy="1229492"/>
          </a:xfrm>
        </p:spPr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8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7ABA-20BF-EA54-2CCF-E0EC1BDE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9267-E5DE-AFCD-D385-ECFCBC51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B5B8-438A-12F7-C43C-ACC41AEC6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568"/>
            <a:ext cx="10515600" cy="325305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Xây</a:t>
            </a:r>
            <a:r>
              <a:rPr lang="en-US" sz="2000" dirty="0"/>
              <a:t> </a:t>
            </a:r>
            <a:r>
              <a:rPr lang="en-US" sz="2000" dirty="0" err="1"/>
              <a:t>dựng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an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nền</a:t>
            </a:r>
            <a:r>
              <a:rPr lang="en-US" sz="2000" dirty="0"/>
              <a:t> </a:t>
            </a:r>
            <a:r>
              <a:rPr lang="en-US" sz="2000" dirty="0" err="1"/>
              <a:t>tảng</a:t>
            </a:r>
            <a:r>
              <a:rPr lang="en-US" sz="2000" dirty="0"/>
              <a:t> Web.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Áp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chế</a:t>
            </a:r>
            <a:r>
              <a:rPr lang="en-US" sz="2000" dirty="0"/>
              <a:t> </a:t>
            </a:r>
            <a:r>
              <a:rPr lang="en-US" sz="2000" b="1" dirty="0"/>
              <a:t>Client-Side Encryption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mã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trước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gửi</a:t>
            </a:r>
            <a:r>
              <a:rPr lang="en-US" sz="2000" dirty="0"/>
              <a:t> </a:t>
            </a:r>
            <a:r>
              <a:rPr lang="en-US" sz="2000" dirty="0" err="1"/>
              <a:t>lên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chủ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chủ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mã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soát</a:t>
            </a:r>
            <a:r>
              <a:rPr lang="en-US" sz="2000" dirty="0"/>
              <a:t> </a:t>
            </a:r>
            <a:r>
              <a:rPr lang="en-US" sz="2000" dirty="0" err="1"/>
              <a:t>hoàn</a:t>
            </a:r>
            <a:r>
              <a:rPr lang="en-US" sz="2000" dirty="0"/>
              <a:t>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mã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qua Master Password.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734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AF0C-D58B-1CE8-E08C-621B60EF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0D36-577D-A5A9-A179-18F99C859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475" y="2129529"/>
            <a:ext cx="7873049" cy="1229492"/>
          </a:xfrm>
        </p:spPr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11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7B784-7825-95D0-0991-A34C9E75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510D-0456-0A20-BF4A-C4DF536B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276C-D7F0-14B6-A370-6DBD8EBE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8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PBKDF2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AES-GCM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PBKDF2 (Password-Based Key Derivation Function 2)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AES-GCM (Advanced Encryption Standard – Galois/Counter Mode)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6619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8771-4965-2078-D1A5-7C1795DB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912C-52AF-7332-9E37-362D7784C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17487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PBKDF2 (Password‑Based Key Derivation Function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D7A1B-B95E-3596-468A-2F152478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568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PBKDF2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 </a:t>
            </a:r>
            <a:r>
              <a:rPr lang="en-US" dirty="0" err="1">
                <a:hlinkClick r:id="rId2" tooltip="Public-Key Cryptography Standards"/>
              </a:rPr>
              <a:t>Tiêu</a:t>
            </a:r>
            <a:r>
              <a:rPr lang="en-US" dirty="0">
                <a:hlinkClick r:id="rId2" tooltip="Public-Key Cryptography Standards"/>
              </a:rPr>
              <a:t> </a:t>
            </a:r>
            <a:r>
              <a:rPr lang="en-US" dirty="0" err="1">
                <a:hlinkClick r:id="rId2" tooltip="Public-Key Cryptography Standards"/>
              </a:rPr>
              <a:t>chuẩn</a:t>
            </a:r>
            <a:r>
              <a:rPr lang="en-US" dirty="0">
                <a:hlinkClick r:id="rId2" tooltip="Public-Key Cryptography Standards"/>
              </a:rPr>
              <a:t> </a:t>
            </a:r>
            <a:r>
              <a:rPr lang="en-US" dirty="0" err="1">
                <a:hlinkClick r:id="rId2" tooltip="Public-Key Cryptography Standards"/>
              </a:rPr>
              <a:t>Mật</a:t>
            </a:r>
            <a:r>
              <a:rPr lang="en-US" dirty="0">
                <a:hlinkClick r:id="rId2" tooltip="Public-Key Cryptography Standards"/>
              </a:rPr>
              <a:t> </a:t>
            </a:r>
            <a:r>
              <a:rPr lang="en-US" dirty="0" err="1">
                <a:hlinkClick r:id="rId2" tooltip="Public-Key Cryptography Standards"/>
              </a:rPr>
              <a:t>mã</a:t>
            </a:r>
            <a:r>
              <a:rPr lang="en-US" dirty="0">
                <a:hlinkClick r:id="rId2" tooltip="Public-Key Cryptography Standards"/>
              </a:rPr>
              <a:t> </a:t>
            </a:r>
            <a:r>
              <a:rPr lang="en-US" dirty="0" err="1">
                <a:hlinkClick r:id="rId2" tooltip="Public-Key Cryptography Standards"/>
              </a:rPr>
              <a:t>Khóa</a:t>
            </a:r>
            <a:r>
              <a:rPr lang="en-US" dirty="0">
                <a:hlinkClick r:id="rId2" tooltip="Public-Key Cryptography Standards"/>
              </a:rPr>
              <a:t> Công </a:t>
            </a:r>
            <a:r>
              <a:rPr lang="en-US" dirty="0" err="1">
                <a:hlinkClick r:id="rId2" tooltip="Public-Key Cryptography Standards"/>
              </a:rPr>
              <a:t>khai</a:t>
            </a:r>
            <a:r>
              <a:rPr lang="en-US" dirty="0"/>
              <a:t> (PKCS) </a:t>
            </a:r>
            <a:r>
              <a:rPr lang="en-US" dirty="0" err="1"/>
              <a:t>của</a:t>
            </a:r>
            <a:r>
              <a:rPr lang="en-US" dirty="0"/>
              <a:t> </a:t>
            </a:r>
            <a:r>
              <a:rPr lang="en-US" dirty="0">
                <a:hlinkClick r:id="rId3" tooltip="Phòng thí nghiệm RSA"/>
              </a:rPr>
              <a:t>RSA Laboratories</a:t>
            </a:r>
            <a:r>
              <a:rPr lang="en-US" dirty="0"/>
              <a:t> ,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PKCS #5 v2.0,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 RFC 2898 </a:t>
            </a:r>
            <a:r>
              <a:rPr lang="en-US" dirty="0" err="1"/>
              <a:t>của</a:t>
            </a:r>
            <a:r>
              <a:rPr lang="en-US" dirty="0"/>
              <a:t> </a:t>
            </a:r>
            <a:r>
              <a:rPr lang="en-US" dirty="0">
                <a:hlinkClick r:id="rId4" tooltip="Internet Engineering Task Force"/>
              </a:rPr>
              <a:t>Internet Engineering Task Force</a:t>
            </a:r>
            <a:r>
              <a:rPr lang="en-US" dirty="0"/>
              <a:t>'s</a:t>
            </a:r>
            <a:r>
              <a:rPr lang="en-US" dirty="0">
                <a:hlinkClick r:id="rId4" tooltip="Nhóm đặc nhiệm kỹ thuật Internet"/>
              </a:rPr>
              <a:t>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do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,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(brute-force attack)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 (dictionary attack).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69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220B-AEB7-69F4-519D-485A1D8C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C2C9-4E56-285F-BBF6-CB988BC4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17487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PBKDF2 (Password‑Based Key Derivation Function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C012-8C1F-61B3-C4B7-736D06FC0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56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PBKDF2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:</a:t>
            </a:r>
          </a:p>
          <a:p>
            <a:r>
              <a:rPr lang="en-US" i="1" dirty="0"/>
              <a:t>	DK = PBKDF2(PRF, Password, Salt, c, </a:t>
            </a:r>
            <a:r>
              <a:rPr lang="en-US" i="1" dirty="0" err="1"/>
              <a:t>dkLen</a:t>
            </a:r>
            <a:r>
              <a:rPr lang="en-US" i="1" dirty="0"/>
              <a:t>)</a:t>
            </a:r>
            <a:endParaRPr lang="en-US" dirty="0"/>
          </a:p>
          <a:p>
            <a:r>
              <a:rPr lang="en-US" dirty="0"/>
              <a:t>Trong </a:t>
            </a:r>
            <a:r>
              <a:rPr lang="en-US" dirty="0" err="1"/>
              <a:t>đó</a:t>
            </a:r>
            <a:r>
              <a:rPr lang="en-US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DK (Derived Key):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PRF (Pseudo-Random Function):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HMAC-SHA256 </a:t>
            </a:r>
            <a:r>
              <a:rPr lang="en-US" dirty="0" err="1"/>
              <a:t>hoặc</a:t>
            </a:r>
            <a:r>
              <a:rPr lang="en-US" dirty="0"/>
              <a:t> HMAC-SHA512.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Password: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do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Salt: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 (Iteration Count):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PRF.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dkLen</a:t>
            </a:r>
            <a:r>
              <a:rPr lang="en-US" dirty="0"/>
              <a:t>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52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65E5-7597-F8D6-FEE0-ABF31749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F51B-4732-8B08-506D-4D726778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17487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PBKDF2 (Password‑Based Key Derivation Function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7651B-4C43-E6EA-B980-602B13FEF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947" y="1896981"/>
            <a:ext cx="9258105" cy="306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065D26-0E0B-2E9F-52F6-F8A20A81EC4E}"/>
              </a:ext>
            </a:extLst>
          </p:cNvPr>
          <p:cNvSpPr txBox="1"/>
          <p:nvPr/>
        </p:nvSpPr>
        <p:spPr>
          <a:xfrm>
            <a:off x="1466947" y="5195765"/>
            <a:ext cx="629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Nguồn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: https://asecuritysite.com/powershell/ps_encpass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29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1DB6-3534-0C48-8036-F13E9A32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D75B-132A-D28E-B9F5-FBCA305C9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17487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PBKDF2 (Password‑Based Key Derivation Function 2)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F858795-1A67-EC6D-C729-F78052B68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167" y="1841159"/>
            <a:ext cx="6211729" cy="378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79B9B-BF8A-ED07-71DD-B4F53C536EA0}"/>
              </a:ext>
            </a:extLst>
          </p:cNvPr>
          <p:cNvSpPr txBox="1"/>
          <p:nvPr/>
        </p:nvSpPr>
        <p:spPr>
          <a:xfrm>
            <a:off x="2445398" y="1290032"/>
            <a:ext cx="629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Mô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tả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lặp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PBKDF2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E8EA5-58FA-B7CA-E6E6-CF57259AA37D}"/>
              </a:ext>
            </a:extLst>
          </p:cNvPr>
          <p:cNvSpPr txBox="1"/>
          <p:nvPr/>
        </p:nvSpPr>
        <p:spPr>
          <a:xfrm>
            <a:off x="2445398" y="5809813"/>
            <a:ext cx="629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Nguồn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: </a:t>
            </a:r>
            <a:r>
              <a:rPr lang="en-U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PBKDF2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535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B008C-4C60-3F02-BE86-34D55A61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6BC1-DAD8-9032-47AB-F4E411D4A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/>
              <a:t>AES-GCM </a:t>
            </a:r>
            <a:br>
              <a:rPr lang="en-US" sz="3200" dirty="0"/>
            </a:br>
            <a:r>
              <a:rPr lang="en-US" sz="3200" dirty="0"/>
              <a:t>(Advanced Encryption Standard - Galois/Counter Mode)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C48B-CEAD-31F7-8627-8E1C3613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568"/>
            <a:ext cx="10515600" cy="435133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AES (Advanced Encryption Standard)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xứng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Viện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Quốc </a:t>
            </a:r>
            <a:r>
              <a:rPr lang="en-US" dirty="0" err="1"/>
              <a:t>gia</a:t>
            </a:r>
            <a:r>
              <a:rPr lang="en-US" dirty="0"/>
              <a:t> Hoa </a:t>
            </a:r>
            <a:r>
              <a:rPr lang="en-US" dirty="0" err="1"/>
              <a:t>Kỳ</a:t>
            </a:r>
            <a:r>
              <a:rPr lang="en-US" dirty="0"/>
              <a:t> (NIST)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2001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DES. AES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(Block Cipher),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128 bit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128 bit, 192 bit </a:t>
            </a:r>
            <a:r>
              <a:rPr lang="en-US" dirty="0" err="1"/>
              <a:t>và</a:t>
            </a:r>
            <a:r>
              <a:rPr lang="en-US" dirty="0"/>
              <a:t> 256 bit.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Galois/Counter Mode (GCM)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AES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NIST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AES-GCM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(Authenticated Encryption with Associated Data – AEAD).</a:t>
            </a:r>
          </a:p>
        </p:txBody>
      </p:sp>
    </p:spTree>
    <p:extLst>
      <p:ext uri="{BB962C8B-B14F-4D97-AF65-F5344CB8AC3E}">
        <p14:creationId xmlns:p14="http://schemas.microsoft.com/office/powerpoint/2010/main" val="817737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85FD-D9ED-0211-0829-9BD72AE7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EE95-E7A4-A107-778E-123C10A8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/>
              <a:t>AES-GCM </a:t>
            </a:r>
            <a:br>
              <a:rPr lang="en-US" sz="3200" dirty="0"/>
            </a:br>
            <a:r>
              <a:rPr lang="en-US" sz="3200" dirty="0"/>
              <a:t>(Advanced Encryption Standard - Galois/Counter Mode)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3C281F-4F07-CA80-78BC-D29EFDCED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422" y="1620846"/>
            <a:ext cx="1051715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AES-GCM bao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mật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IV (Nonce):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ngẫu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nhằm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đảm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Plaintext: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gốc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Ciphertext: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Tag: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vẹn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372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9D08-3F7A-AF12-5663-64EC3AAC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A89C-4114-DA82-81AD-664F9533D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475" y="2110868"/>
            <a:ext cx="7873049" cy="1229492"/>
          </a:xfrm>
        </p:spPr>
        <p:txBody>
          <a:bodyPr>
            <a:norm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5085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8630-9F72-FE09-D588-6A2DC5D0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DEAB-1283-C243-17E5-BDC5A1A0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 err="1"/>
              <a:t>Mô</a:t>
            </a:r>
            <a:r>
              <a:rPr lang="en-US" sz="3200" dirty="0"/>
              <a:t> </a:t>
            </a:r>
            <a:r>
              <a:rPr lang="en-US" sz="3200" dirty="0" err="1"/>
              <a:t>hình</a:t>
            </a:r>
            <a:r>
              <a:rPr lang="en-US" sz="3200" dirty="0"/>
              <a:t> </a:t>
            </a:r>
            <a:r>
              <a:rPr lang="en-US" sz="3200" dirty="0" err="1"/>
              <a:t>tổng</a:t>
            </a:r>
            <a:r>
              <a:rPr lang="en-US" sz="3200" dirty="0"/>
              <a:t> </a:t>
            </a:r>
            <a:r>
              <a:rPr lang="en-US" sz="3200" dirty="0" err="1"/>
              <a:t>thể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F6932-4729-2D4F-1F80-5FF9EABE6DB9}"/>
              </a:ext>
            </a:extLst>
          </p:cNvPr>
          <p:cNvSpPr txBox="1"/>
          <p:nvPr/>
        </p:nvSpPr>
        <p:spPr>
          <a:xfrm>
            <a:off x="838200" y="1477568"/>
            <a:ext cx="90716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438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3C07-3F77-4E62-1E2E-F1CEB94A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F141-3C14-A50C-C796-4B464D5C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E1601-C697-FF54-0F38-5E31E809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7649"/>
            <a:ext cx="10513268" cy="485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7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8E0F-EB74-D6F1-C915-72BB698B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C3E4-741D-AA13-407E-636948B8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C794C9-2B98-6913-EBB1-14D139DF1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53" y="1221701"/>
            <a:ext cx="7421493" cy="521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87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7674-AE7E-D7C5-3FA2-6B001A41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79F59-D545-D37E-1F0F-539C270C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EF938E-B375-31E7-06DC-0215C16A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08" y="1046371"/>
            <a:ext cx="9696587" cy="503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40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228F-FA36-A292-1A09-38E674F9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3135-6CF0-3D43-EF35-FE8DE226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65BFEC-61CE-975C-F596-B9AB55D7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4" y="1477568"/>
            <a:ext cx="11218346" cy="368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05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7268-D943-78BE-43D3-F75B912B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A575-4E06-4090-0FB4-E8361868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Chia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3FD88-26A8-167B-C86C-268CBE6FE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603" y="1074216"/>
            <a:ext cx="8283839" cy="513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13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2180-E361-5067-53FE-62171217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89D4-0617-7D25-C8BD-88ED44B88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1963" y="2101537"/>
            <a:ext cx="7448073" cy="1425434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862328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7150-31E5-C19B-DCF4-103E1C9C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6F48-4136-2536-4C85-DE079B4A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/>
              <a:t>Demo </a:t>
            </a:r>
            <a:r>
              <a:rPr lang="en-US" sz="3200" dirty="0" err="1"/>
              <a:t>mã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endParaRPr lang="en-US" sz="3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322B02-3207-0972-42C2-70DEF462EF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6735"/>
            <a:ext cx="35269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upload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928C241-9D7D-9A48-9D7B-BA616D928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179" y="1246735"/>
            <a:ext cx="51442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2. </a:t>
            </a:r>
            <a:r>
              <a:rPr lang="en-US" altLang="en-US" dirty="0" err="1">
                <a:latin typeface="Arial" panose="020B0604020202020204" pitchFamily="34" charset="0"/>
              </a:rPr>
              <a:t>Dữ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liệu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được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lưu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</a:rPr>
              <a:t> database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7E406A-481B-8914-81CD-C5B995872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01" y="1827693"/>
            <a:ext cx="2769439" cy="4050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D7F4D-326B-0DD3-4D80-56B81273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258" y="2061511"/>
            <a:ext cx="6714670" cy="273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04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FAAE-2F28-8E18-0B0E-65C49C6D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3B9F-91DD-14EE-EDEB-6898D8B5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/>
              <a:t>Demo </a:t>
            </a:r>
            <a:r>
              <a:rPr lang="en-US" sz="3200" dirty="0" err="1"/>
              <a:t>tạo</a:t>
            </a:r>
            <a:r>
              <a:rPr lang="en-US" sz="3200" dirty="0"/>
              <a:t> Master Key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B05F00-EC0C-4DF6-BF23-A2FCFB0C3E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74036"/>
            <a:ext cx="79776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en-US" dirty="0" err="1">
                <a:latin typeface="Arial" panose="020B0604020202020204" pitchFamily="34" charset="0"/>
              </a:rPr>
              <a:t>Dữ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liệu</a:t>
            </a:r>
            <a:r>
              <a:rPr lang="en-US" altLang="en-US" dirty="0">
                <a:latin typeface="Arial" panose="020B0604020202020204" pitchFamily="34" charset="0"/>
              </a:rPr>
              <a:t> file </a:t>
            </a:r>
            <a:r>
              <a:rPr lang="en-US" altLang="en-US" dirty="0" err="1">
                <a:latin typeface="Arial" panose="020B0604020202020204" pitchFamily="34" charset="0"/>
              </a:rPr>
              <a:t>đã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mã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hóa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lưu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thư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mục</a:t>
            </a:r>
            <a:r>
              <a:rPr lang="en-US" altLang="en-US" dirty="0">
                <a:latin typeface="Arial" panose="020B0604020202020204" pitchFamily="34" charset="0"/>
              </a:rPr>
              <a:t> uploads: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B2AC0-CAA8-7C07-D082-A94396015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47" y="1857933"/>
            <a:ext cx="8116003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9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A0D-C345-94A8-F5D5-7893159B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4688-9B2D-D750-7534-8337F37B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993016" cy="1325563"/>
          </a:xfrm>
        </p:spPr>
        <p:txBody>
          <a:bodyPr>
            <a:noAutofit/>
          </a:bodyPr>
          <a:lstStyle/>
          <a:p>
            <a:r>
              <a:rPr lang="en-US" sz="3200" dirty="0"/>
              <a:t>Demo </a:t>
            </a: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mã</a:t>
            </a:r>
            <a:endParaRPr lang="en-US" sz="3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B8EB795-E531-DF5A-A85F-062CCD612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6645" y="1246735"/>
            <a:ext cx="10517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1. </a:t>
            </a:r>
            <a:r>
              <a:rPr lang="en-US" altLang="en-US" dirty="0" err="1">
                <a:latin typeface="Arial" panose="020B0604020202020204" pitchFamily="34" charset="0"/>
              </a:rPr>
              <a:t>Nhấn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nút</a:t>
            </a:r>
            <a:r>
              <a:rPr lang="en-US" altLang="en-US" dirty="0">
                <a:latin typeface="Arial" panose="020B0604020202020204" pitchFamily="34" charset="0"/>
              </a:rPr>
              <a:t> “Download” </a:t>
            </a:r>
            <a:r>
              <a:rPr lang="en-US" altLang="en-US" dirty="0" err="1">
                <a:latin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</a:rPr>
              <a:t> file </a:t>
            </a:r>
            <a:r>
              <a:rPr lang="en-US" altLang="en-US" dirty="0" err="1">
                <a:latin typeface="Arial" panose="020B0604020202020204" pitchFamily="34" charset="0"/>
              </a:rPr>
              <a:t>sẽ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được</a:t>
            </a:r>
            <a:r>
              <a:rPr lang="en-US" altLang="en-US" dirty="0">
                <a:latin typeface="Arial" panose="020B0604020202020204" pitchFamily="34" charset="0"/>
              </a:rPr>
              <a:t> download </a:t>
            </a:r>
            <a:r>
              <a:rPr lang="en-US" altLang="en-US" dirty="0" err="1">
                <a:latin typeface="Arial" panose="020B0604020202020204" pitchFamily="34" charset="0"/>
              </a:rPr>
              <a:t>về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máy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247F1-81F0-120D-C6D0-A6751901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3" y="2140347"/>
            <a:ext cx="9563877" cy="164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65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20AF-C3AD-7C10-F602-3CA9743D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4BB6-DDB9-B3B2-7568-858D355C0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1963" y="1877602"/>
            <a:ext cx="7448073" cy="1425434"/>
          </a:xfrm>
        </p:spPr>
        <p:txBody>
          <a:bodyPr>
            <a:normAutofit/>
          </a:bodyPr>
          <a:lstStyle/>
          <a:p>
            <a:r>
              <a:rPr lang="en-US" dirty="0"/>
              <a:t>Tài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95E352-C61C-9162-1425-30DCDF74D09B}"/>
              </a:ext>
            </a:extLst>
          </p:cNvPr>
          <p:cNvSpPr txBox="1">
            <a:spLocks/>
          </p:cNvSpPr>
          <p:nvPr/>
        </p:nvSpPr>
        <p:spPr>
          <a:xfrm>
            <a:off x="1499896" y="2724538"/>
            <a:ext cx="9192208" cy="36109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baseline="0">
                <a:solidFill>
                  <a:srgbClr val="0070C0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592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6C5E-CF0E-B0D7-2017-FC3441D2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8D99-E85C-54B3-84C4-8DADF457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1748796" cy="1325563"/>
          </a:xfrm>
        </p:spPr>
        <p:txBody>
          <a:bodyPr>
            <a:normAutofit/>
          </a:bodyPr>
          <a:lstStyle/>
          <a:p>
            <a:r>
              <a:rPr lang="en-US" dirty="0"/>
              <a:t>Tài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077DC9-33D5-CDBD-99AC-C420830FF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707"/>
            <a:ext cx="10515600" cy="4351338"/>
          </a:xfrm>
        </p:spPr>
        <p:txBody>
          <a:bodyPr/>
          <a:lstStyle/>
          <a:p>
            <a:pPr algn="l"/>
            <a:r>
              <a:rPr lang="en-US" dirty="0"/>
              <a:t>[1] </a:t>
            </a:r>
            <a:r>
              <a:rPr lang="en-US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PBKDF2</a:t>
            </a:r>
            <a:endParaRPr lang="en-US" dirty="0"/>
          </a:p>
          <a:p>
            <a:pPr algn="l"/>
            <a:r>
              <a:rPr lang="en-US" dirty="0"/>
              <a:t>[2] </a:t>
            </a:r>
            <a:r>
              <a:rPr lang="en-US" dirty="0">
                <a:hlinkClick r:id="rId3"/>
              </a:rPr>
              <a:t>https://asecuritysite.com/powershell/ps_encpass</a:t>
            </a:r>
            <a:endParaRPr lang="en-US" dirty="0"/>
          </a:p>
          <a:p>
            <a:pPr algn="l"/>
            <a:r>
              <a:rPr lang="en-US" dirty="0"/>
              <a:t>[3] https://asecuritysite.com/powershell/enc04</a:t>
            </a:r>
          </a:p>
          <a:p>
            <a:pPr algn="l"/>
            <a:r>
              <a:rPr lang="en-US" dirty="0"/>
              <a:t>[4] https://developer.mozilla.org/en-US/docs/Web/API/Web_Crypto_API </a:t>
            </a:r>
          </a:p>
          <a:p>
            <a:pPr algn="l"/>
            <a:r>
              <a:rPr lang="en-US" dirty="0"/>
              <a:t>[5] https://hackmd.io/@Thangcoithongminh/ry3owiLX3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31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CÁM ƠN THẦY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5739</TotalTime>
  <Words>2162</Words>
  <Application>Microsoft Office PowerPoint</Application>
  <PresentationFormat>Widescreen</PresentationFormat>
  <Paragraphs>149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Readex Pro</vt:lpstr>
      <vt:lpstr>Arial</vt:lpstr>
      <vt:lpstr>K2D</vt:lpstr>
      <vt:lpstr>Barlow</vt:lpstr>
      <vt:lpstr>Times New Roman</vt:lpstr>
      <vt:lpstr>Wingdings</vt:lpstr>
      <vt:lpstr>Office Theme</vt:lpstr>
      <vt:lpstr>Ứng dụng quản lý tài liệu có mã hóa dữ liệu</vt:lpstr>
      <vt:lpstr>Giới thiệu</vt:lpstr>
      <vt:lpstr>Giới thiệu</vt:lpstr>
      <vt:lpstr>CƠ SỞ LÝ THUYẾT</vt:lpstr>
      <vt:lpstr>CƠ SỞ LÝ THUYẾT</vt:lpstr>
      <vt:lpstr>CƠ SỞ LÝ THUYẾT</vt:lpstr>
      <vt:lpstr>CƠ SỞ LÝ THUYẾT</vt:lpstr>
      <vt:lpstr>CƠ SỞ LÝ THUYẾT</vt:lpstr>
      <vt:lpstr>CƠ SỞ LÝ THUYẾT</vt:lpstr>
      <vt:lpstr>CƠ SỞ LÝ THUYẾT</vt:lpstr>
      <vt:lpstr>CƠ SỞ LÝ THUYẾT</vt:lpstr>
      <vt:lpstr>Ý tưởng hệ thống</vt:lpstr>
      <vt:lpstr>Ý tưởng hệ thống</vt:lpstr>
      <vt:lpstr>Thuật toán sử dụng</vt:lpstr>
      <vt:lpstr>Thuật toán sử dụng</vt:lpstr>
      <vt:lpstr>PBKDF2 (Password‑Based Key Derivation Function 2)</vt:lpstr>
      <vt:lpstr>PBKDF2 (Password‑Based Key Derivation Function 2)</vt:lpstr>
      <vt:lpstr>PBKDF2 (Password‑Based Key Derivation Function 2)</vt:lpstr>
      <vt:lpstr>PBKDF2 (Password‑Based Key Derivation Function 2)</vt:lpstr>
      <vt:lpstr>AES-GCM  (Advanced Encryption Standard - Galois/Counter Mode)</vt:lpstr>
      <vt:lpstr>AES-GCM  (Advanced Encryption Standard - Galois/Counter Mode)</vt:lpstr>
      <vt:lpstr>Mô hình tổng thể </vt:lpstr>
      <vt:lpstr>Mô hình tổng thể</vt:lpstr>
      <vt:lpstr>Quy trình 1: Đăng ký và khởi tạo khóa mật mã</vt:lpstr>
      <vt:lpstr>Quy trình 2: Đăng nhập và khôi phục khóa riêng</vt:lpstr>
      <vt:lpstr>Quy trình 3: Mã hóa và tải lên tệp </vt:lpstr>
      <vt:lpstr>Quy trình 4: Giải mã và tải xuống tệp</vt:lpstr>
      <vt:lpstr>Quy trình 5: Chia sẻ tệp</vt:lpstr>
      <vt:lpstr>Demo</vt:lpstr>
      <vt:lpstr>Demo mã hóa</vt:lpstr>
      <vt:lpstr>Demo tạo Master Key</vt:lpstr>
      <vt:lpstr>Demo giải mã</vt:lpstr>
      <vt:lpstr>Tài liệu kham khảo</vt:lpstr>
      <vt:lpstr>Tài liệu kham khảo</vt:lpstr>
      <vt:lpstr>CÁM ƠN THẦY ĐÃ LẮNG NGHE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Nguyen Thi Truc Ngan</cp:lastModifiedBy>
  <cp:revision>253</cp:revision>
  <dcterms:created xsi:type="dcterms:W3CDTF">2022-07-01T08:15:51Z</dcterms:created>
  <dcterms:modified xsi:type="dcterms:W3CDTF">2026-06-28T16:45:04Z</dcterms:modified>
</cp:coreProperties>
</file>