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325" r:id="rId2"/>
    <p:sldId id="326" r:id="rId3"/>
    <p:sldId id="347" r:id="rId4"/>
    <p:sldId id="328" r:id="rId5"/>
    <p:sldId id="330" r:id="rId6"/>
    <p:sldId id="331" r:id="rId7"/>
    <p:sldId id="333" r:id="rId8"/>
    <p:sldId id="334" r:id="rId9"/>
    <p:sldId id="335" r:id="rId10"/>
    <p:sldId id="337" r:id="rId11"/>
    <p:sldId id="338" r:id="rId12"/>
    <p:sldId id="349" r:id="rId13"/>
    <p:sldId id="344" r:id="rId14"/>
    <p:sldId id="346" r:id="rId15"/>
    <p:sldId id="345" r:id="rId16"/>
    <p:sldId id="348" r:id="rId17"/>
    <p:sldId id="261" r:id="rId18"/>
  </p:sldIdLst>
  <p:sldSz cx="12192000" cy="6858000"/>
  <p:notesSz cx="6858000" cy="9144000"/>
  <p:embeddedFontLst>
    <p:embeddedFont>
      <p:font typeface="Barlow" panose="00000500000000000000" pitchFamily="2" charset="0"/>
      <p:regular r:id="rId19"/>
      <p:bold r:id="rId20"/>
      <p:italic r:id="rId21"/>
      <p:boldItalic r:id="rId22"/>
    </p:embeddedFont>
    <p:embeddedFont>
      <p:font typeface="K2D" panose="020B0604020202020204" charset="-34"/>
      <p:regular r:id="rId23"/>
      <p:bold r:id="rId24"/>
      <p:italic r:id="rId25"/>
      <p:boldItalic r:id="rId26"/>
    </p:embeddedFont>
    <p:embeddedFont>
      <p:font typeface="Readex Pro" panose="020B0604020202020204" charset="-78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FFF"/>
    <a:srgbClr val="FFFFFF"/>
    <a:srgbClr val="CCFFFF"/>
    <a:srgbClr val="DEEBF7"/>
    <a:srgbClr val="0D9488"/>
    <a:srgbClr val="1E293B"/>
    <a:srgbClr val="EF4444"/>
    <a:srgbClr val="0D949C"/>
    <a:srgbClr val="FFCCFF"/>
    <a:srgbClr val="1F5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7/25/2026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fc-editor.org/rfc/rfc8018" TargetMode="External"/><Relationship Id="rId3" Type="http://schemas.openxmlformats.org/officeDocument/2006/relationships/hyperlink" Target="https://asecuritysite.com/powershell/ps_encpass" TargetMode="External"/><Relationship Id="rId7" Type="http://schemas.openxmlformats.org/officeDocument/2006/relationships/hyperlink" Target="https://csrc.nist.gov/pubs/sp/800/132/final?utm_source=chatgpt.com" TargetMode="External"/><Relationship Id="rId2" Type="http://schemas.openxmlformats.org/officeDocument/2006/relationships/hyperlink" Target="https://en.wikipedia.org/wiki/PBKDF2?utm_source=chatgpt.co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hackmd.io/@Thangcoithongminh/ry3owiLX3" TargetMode="External"/><Relationship Id="rId11" Type="http://schemas.openxmlformats.org/officeDocument/2006/relationships/hyperlink" Target="https://cheatsheetseries.owasp.org/cheatsheets/Password_Storage_Cheat_Sheet.html" TargetMode="External"/><Relationship Id="rId5" Type="http://schemas.openxmlformats.org/officeDocument/2006/relationships/hyperlink" Target="https://developer.mozilla.org/en-US/docs/Web/API/Web_Crypto_API" TargetMode="External"/><Relationship Id="rId10" Type="http://schemas.openxmlformats.org/officeDocument/2006/relationships/hyperlink" Target="https://csrc.nist.gov/pubs/sp/800/38/d/final" TargetMode="External"/><Relationship Id="rId4" Type="http://schemas.openxmlformats.org/officeDocument/2006/relationships/hyperlink" Target="https://asecuritysite.com/powershell/enc04" TargetMode="External"/><Relationship Id="rId9" Type="http://schemas.openxmlformats.org/officeDocument/2006/relationships/hyperlink" Target="https://csrc.nist.gov/pubs/fips/197/fina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2A0B-9C7C-FD13-7FC9-20F4B6A3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638140E-3FD8-FBC9-F9D1-2600D28E87E8}"/>
              </a:ext>
            </a:extLst>
          </p:cNvPr>
          <p:cNvSpPr txBox="1"/>
          <p:nvPr/>
        </p:nvSpPr>
        <p:spPr>
          <a:xfrm>
            <a:off x="3048778" y="326766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0E38E7-103B-61CA-DF71-DDAE2DA1E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3" name="image46.png" descr="Logo chính thức trường Đại học Cần Thơ">
            <a:extLst>
              <a:ext uri="{FF2B5EF4-FFF2-40B4-BE49-F238E27FC236}">
                <a16:creationId xmlns:a16="http://schemas.microsoft.com/office/drawing/2014/main" id="{622B8CF5-FDE2-3363-FF28-616B5A668FB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337" y="397676"/>
            <a:ext cx="1292225" cy="1291590"/>
          </a:xfrm>
          <a:prstGeom prst="rect">
            <a:avLst/>
          </a:prstGeom>
          <a:ln/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8BCB157F-FB70-76EA-3DEB-96EA12AE39CA}"/>
              </a:ext>
            </a:extLst>
          </p:cNvPr>
          <p:cNvSpPr txBox="1">
            <a:spLocks/>
          </p:cNvSpPr>
          <p:nvPr/>
        </p:nvSpPr>
        <p:spPr>
          <a:xfrm>
            <a:off x="1080450" y="447653"/>
            <a:ext cx="10335898" cy="11916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HỌC CẦN THƠ</a:t>
            </a:r>
            <a:b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CÔNG NGHỆ THÔNG TIN &amp; TRUYỀN THÔNG</a:t>
            </a:r>
            <a:b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MẠNG MÁY TÍNH VÀ TRUYỀN THÔNG</a:t>
            </a:r>
            <a:endParaRPr lang="vi-V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ubtitle 4">
            <a:extLst>
              <a:ext uri="{FF2B5EF4-FFF2-40B4-BE49-F238E27FC236}">
                <a16:creationId xmlns:a16="http://schemas.microsoft.com/office/drawing/2014/main" id="{D0664E5B-B468-BEA4-4630-CAE2F1FAC223}"/>
              </a:ext>
            </a:extLst>
          </p:cNvPr>
          <p:cNvSpPr txBox="1">
            <a:spLocks/>
          </p:cNvSpPr>
          <p:nvPr/>
        </p:nvSpPr>
        <p:spPr>
          <a:xfrm>
            <a:off x="1791767" y="1639290"/>
            <a:ext cx="8608463" cy="22445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NIÊN LUẬN CƠ SỞ NGÀNH AN TOÀN THÔNG TIN</a:t>
            </a:r>
            <a:b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b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QUẢN LÝ TÀI LIỆU </a:t>
            </a:r>
          </a:p>
          <a:p>
            <a:pPr algn="ctr"/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MÃ HÓA DỮ LIỆU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4A59ABE-B389-754A-847A-6A00C6919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71200"/>
              </p:ext>
            </p:extLst>
          </p:nvPr>
        </p:nvGraphicFramePr>
        <p:xfrm>
          <a:off x="2855167" y="4849036"/>
          <a:ext cx="9259078" cy="1118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8735">
                  <a:extLst>
                    <a:ext uri="{9D8B030D-6E8A-4147-A177-3AD203B41FA5}">
                      <a16:colId xmlns:a16="http://schemas.microsoft.com/office/drawing/2014/main" val="89671329"/>
                    </a:ext>
                  </a:extLst>
                </a:gridCol>
                <a:gridCol w="4920343">
                  <a:extLst>
                    <a:ext uri="{9D8B030D-6E8A-4147-A177-3AD203B41FA5}">
                      <a16:colId xmlns:a16="http://schemas.microsoft.com/office/drawing/2014/main" val="1998119010"/>
                    </a:ext>
                  </a:extLst>
                </a:gridCol>
              </a:tblGrid>
              <a:tr h="1118466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Giảng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hướng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dẫn</a:t>
                      </a:r>
                      <a:endParaRPr lang="en-US" sz="1600" b="1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TS. Ngô Bá Hùng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Sinh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hiện</a:t>
                      </a:r>
                      <a:endParaRPr lang="en-US" sz="1600" b="1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Họ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Nguyễn Thị Trúc Ngân</a:t>
                      </a:r>
                    </a:p>
                    <a:p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Mã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B2304071</a:t>
                      </a:r>
                    </a:p>
                    <a:p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K49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47047"/>
                  </a:ext>
                </a:extLst>
              </a:tr>
            </a:tbl>
          </a:graphicData>
        </a:graphic>
      </p:graphicFrame>
      <p:sp>
        <p:nvSpPr>
          <p:cNvPr id="33" name="Title 1">
            <a:extLst>
              <a:ext uri="{FF2B5EF4-FFF2-40B4-BE49-F238E27FC236}">
                <a16:creationId xmlns:a16="http://schemas.microsoft.com/office/drawing/2014/main" id="{602FDF97-F327-72A9-9772-2BED1DC24C31}"/>
              </a:ext>
            </a:extLst>
          </p:cNvPr>
          <p:cNvSpPr txBox="1">
            <a:spLocks/>
          </p:cNvSpPr>
          <p:nvPr/>
        </p:nvSpPr>
        <p:spPr>
          <a:xfrm>
            <a:off x="2159475" y="6110453"/>
            <a:ext cx="7873049" cy="2891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1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bg1"/>
                </a:solidFill>
                <a:latin typeface="K2D" panose="00000500000000000000" pitchFamily="2" charset="-34"/>
                <a:ea typeface="+mj-ea"/>
                <a:cs typeface="K2D" panose="00000500000000000000" pitchFamily="2" charset="-34"/>
              </a:defRPr>
            </a:lvl1pPr>
          </a:lstStyle>
          <a:p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Thơ,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442459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1666-0669-EA9D-D651-067BCFFF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583"/>
            <a:ext cx="10515600" cy="978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NỘI DUNG TRÌNH BÀY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787ED638-7BBB-4102-073D-FAA20EBA3216}"/>
              </a:ext>
            </a:extLst>
          </p:cNvPr>
          <p:cNvSpPr/>
          <p:nvPr/>
        </p:nvSpPr>
        <p:spPr>
          <a:xfrm>
            <a:off x="1850567" y="3846524"/>
            <a:ext cx="555171" cy="4419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87C87C-8710-7CC3-0357-77132CEE4E05}"/>
              </a:ext>
            </a:extLst>
          </p:cNvPr>
          <p:cNvSpPr/>
          <p:nvPr/>
        </p:nvSpPr>
        <p:spPr>
          <a:xfrm>
            <a:off x="824191" y="1868602"/>
            <a:ext cx="4778831" cy="6463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056319-BA1F-3D12-38DC-1E995D7C497A}"/>
              </a:ext>
            </a:extLst>
          </p:cNvPr>
          <p:cNvSpPr/>
          <p:nvPr/>
        </p:nvSpPr>
        <p:spPr>
          <a:xfrm>
            <a:off x="891058" y="1884766"/>
            <a:ext cx="4704180" cy="614022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2200" b="1" dirty="0" err="1">
                <a:solidFill>
                  <a:srgbClr val="002060"/>
                </a:solidFill>
              </a:rPr>
              <a:t>Giới</a:t>
            </a:r>
            <a:r>
              <a:rPr lang="en-US" sz="2200" b="1" dirty="0">
                <a:solidFill>
                  <a:srgbClr val="002060"/>
                </a:solidFill>
              </a:rPr>
              <a:t> </a:t>
            </a:r>
            <a:r>
              <a:rPr lang="en-US" sz="2200" b="1" dirty="0" err="1">
                <a:solidFill>
                  <a:srgbClr val="002060"/>
                </a:solidFill>
              </a:rPr>
              <a:t>thiệu</a:t>
            </a:r>
            <a:r>
              <a:rPr lang="en-US" sz="2200" b="1" dirty="0">
                <a:solidFill>
                  <a:srgbClr val="002060"/>
                </a:solidFill>
              </a:rPr>
              <a:t> </a:t>
            </a:r>
            <a:r>
              <a:rPr lang="en-US" sz="2200" b="1" dirty="0" err="1">
                <a:solidFill>
                  <a:srgbClr val="002060"/>
                </a:solidFill>
              </a:rPr>
              <a:t>đề</a:t>
            </a:r>
            <a:r>
              <a:rPr lang="en-US" sz="2200" b="1" dirty="0">
                <a:solidFill>
                  <a:srgbClr val="002060"/>
                </a:solidFill>
              </a:rPr>
              <a:t> </a:t>
            </a:r>
            <a:r>
              <a:rPr lang="en-US" sz="2200" b="1" dirty="0" err="1">
                <a:solidFill>
                  <a:srgbClr val="002060"/>
                </a:solidFill>
              </a:rPr>
              <a:t>tài</a:t>
            </a:r>
            <a:endParaRPr lang="en-US" sz="22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9586DFB9-F9B6-E493-05AC-F588E265B926}"/>
              </a:ext>
            </a:extLst>
          </p:cNvPr>
          <p:cNvSpPr/>
          <p:nvPr/>
        </p:nvSpPr>
        <p:spPr>
          <a:xfrm>
            <a:off x="985933" y="1957996"/>
            <a:ext cx="555171" cy="44198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A89D05E-7474-7E44-8562-128D0DE4B29B}"/>
              </a:ext>
            </a:extLst>
          </p:cNvPr>
          <p:cNvSpPr/>
          <p:nvPr/>
        </p:nvSpPr>
        <p:spPr>
          <a:xfrm>
            <a:off x="831973" y="2757069"/>
            <a:ext cx="4778831" cy="6463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424E97C-4E0C-1DA5-AEB4-03F7037C1BCB}"/>
              </a:ext>
            </a:extLst>
          </p:cNvPr>
          <p:cNvSpPr/>
          <p:nvPr/>
        </p:nvSpPr>
        <p:spPr>
          <a:xfrm>
            <a:off x="891058" y="2776002"/>
            <a:ext cx="4711962" cy="614022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2000" b="1" dirty="0" err="1">
                <a:solidFill>
                  <a:srgbClr val="002060"/>
                </a:solidFill>
              </a:rPr>
              <a:t>Mục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tiêu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và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nội</a:t>
            </a:r>
            <a:r>
              <a:rPr lang="en-US" sz="2000" b="1" dirty="0">
                <a:solidFill>
                  <a:srgbClr val="002060"/>
                </a:solidFill>
              </a:rPr>
              <a:t> dung </a:t>
            </a:r>
            <a:r>
              <a:rPr lang="en-US" sz="2000" b="1" dirty="0" err="1">
                <a:solidFill>
                  <a:srgbClr val="002060"/>
                </a:solidFill>
              </a:rPr>
              <a:t>nghiên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cứu</a:t>
            </a:r>
            <a:endParaRPr 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BE0F0406-5B79-BE53-CE02-5DD076FD3864}"/>
              </a:ext>
            </a:extLst>
          </p:cNvPr>
          <p:cNvSpPr/>
          <p:nvPr/>
        </p:nvSpPr>
        <p:spPr>
          <a:xfrm>
            <a:off x="985932" y="2869934"/>
            <a:ext cx="555171" cy="44198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E90A0C1-8325-CE03-3F68-7E2F12232E67}"/>
              </a:ext>
            </a:extLst>
          </p:cNvPr>
          <p:cNvSpPr/>
          <p:nvPr/>
        </p:nvSpPr>
        <p:spPr>
          <a:xfrm>
            <a:off x="824190" y="3656250"/>
            <a:ext cx="4778831" cy="6463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8B5D833-386A-D554-851F-61CB83BBD9EC}"/>
              </a:ext>
            </a:extLst>
          </p:cNvPr>
          <p:cNvSpPr/>
          <p:nvPr/>
        </p:nvSpPr>
        <p:spPr>
          <a:xfrm>
            <a:off x="873169" y="3672414"/>
            <a:ext cx="4711962" cy="614022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Phân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tích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thiết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kế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hệ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thống</a:t>
            </a:r>
            <a:endParaRPr 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7C0EA6FF-B2EF-9025-D126-E6F859EB5256}"/>
              </a:ext>
            </a:extLst>
          </p:cNvPr>
          <p:cNvSpPr/>
          <p:nvPr/>
        </p:nvSpPr>
        <p:spPr>
          <a:xfrm>
            <a:off x="984376" y="3750036"/>
            <a:ext cx="555171" cy="441980"/>
          </a:xfrm>
          <a:prstGeom prst="diamond">
            <a:avLst/>
          </a:prstGeom>
          <a:solidFill>
            <a:schemeClr val="accent1">
              <a:lumMod val="5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24227E-320F-737A-E107-A8B68DF060B1}"/>
              </a:ext>
            </a:extLst>
          </p:cNvPr>
          <p:cNvSpPr/>
          <p:nvPr/>
        </p:nvSpPr>
        <p:spPr>
          <a:xfrm>
            <a:off x="6427234" y="1868602"/>
            <a:ext cx="4778833" cy="6463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E669EBF-F964-9498-9849-B650560C7352}"/>
              </a:ext>
            </a:extLst>
          </p:cNvPr>
          <p:cNvSpPr/>
          <p:nvPr/>
        </p:nvSpPr>
        <p:spPr>
          <a:xfrm>
            <a:off x="6494103" y="1884766"/>
            <a:ext cx="4704180" cy="614022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Đánh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giá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kiểm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thử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hệ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thống</a:t>
            </a:r>
            <a:endParaRPr 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363D28FA-4030-2B62-F160-CED5A874C7C2}"/>
              </a:ext>
            </a:extLst>
          </p:cNvPr>
          <p:cNvSpPr/>
          <p:nvPr/>
        </p:nvSpPr>
        <p:spPr>
          <a:xfrm>
            <a:off x="6600610" y="1957996"/>
            <a:ext cx="555171" cy="44198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0164BFA-DECB-5CC8-2686-F7F8F27D389B}"/>
              </a:ext>
            </a:extLst>
          </p:cNvPr>
          <p:cNvSpPr/>
          <p:nvPr/>
        </p:nvSpPr>
        <p:spPr>
          <a:xfrm>
            <a:off x="6427235" y="2757069"/>
            <a:ext cx="4778831" cy="6463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2CAF09F-871B-1123-91D1-AC4452420DFD}"/>
              </a:ext>
            </a:extLst>
          </p:cNvPr>
          <p:cNvSpPr/>
          <p:nvPr/>
        </p:nvSpPr>
        <p:spPr>
          <a:xfrm>
            <a:off x="6486321" y="2767783"/>
            <a:ext cx="4711962" cy="614022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Kết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luận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và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hướng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phát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triển</a:t>
            </a:r>
            <a:endParaRPr 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26113E85-BC76-6F9D-8ED5-A92CB0C416DE}"/>
              </a:ext>
            </a:extLst>
          </p:cNvPr>
          <p:cNvSpPr/>
          <p:nvPr/>
        </p:nvSpPr>
        <p:spPr>
          <a:xfrm>
            <a:off x="6600610" y="2869934"/>
            <a:ext cx="555171" cy="441980"/>
          </a:xfrm>
          <a:prstGeom prst="diamond">
            <a:avLst/>
          </a:prstGeom>
          <a:solidFill>
            <a:schemeClr val="accent1">
              <a:lumMod val="5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F97508E-3534-B4BD-596F-C7DEA503C3B7}"/>
              </a:ext>
            </a:extLst>
          </p:cNvPr>
          <p:cNvSpPr/>
          <p:nvPr/>
        </p:nvSpPr>
        <p:spPr>
          <a:xfrm>
            <a:off x="6427234" y="3656250"/>
            <a:ext cx="4778831" cy="64635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2467E15-2D44-7064-1BD9-0BC4B7473670}"/>
              </a:ext>
            </a:extLst>
          </p:cNvPr>
          <p:cNvSpPr/>
          <p:nvPr/>
        </p:nvSpPr>
        <p:spPr>
          <a:xfrm>
            <a:off x="6486321" y="3672414"/>
            <a:ext cx="4711962" cy="614022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rgbClr val="002060"/>
                </a:solidFill>
              </a:rPr>
              <a:t>Demo</a:t>
            </a:r>
            <a:endParaRPr 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ED7A3669-AAC0-A47E-02D0-5E396656124F}"/>
              </a:ext>
            </a:extLst>
          </p:cNvPr>
          <p:cNvSpPr/>
          <p:nvPr/>
        </p:nvSpPr>
        <p:spPr>
          <a:xfrm>
            <a:off x="6600610" y="3753689"/>
            <a:ext cx="555171" cy="441980"/>
          </a:xfrm>
          <a:prstGeom prst="diamond">
            <a:avLst/>
          </a:prstGeom>
          <a:solidFill>
            <a:schemeClr val="accent1">
              <a:lumMod val="5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1698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45E7-2923-63E7-2104-A361C6BB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17B8E7-8FFD-85C8-1BC4-BCA872AA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GIỚI THIỆU ĐỀ TÀI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B3D9DB-0631-9BDC-0484-74EDA9249614}"/>
              </a:ext>
            </a:extLst>
          </p:cNvPr>
          <p:cNvSpPr txBox="1">
            <a:spLocks/>
          </p:cNvSpPr>
          <p:nvPr/>
        </p:nvSpPr>
        <p:spPr>
          <a:xfrm>
            <a:off x="940835" y="2055760"/>
            <a:ext cx="10412965" cy="409311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b="1" dirty="0" err="1">
                <a:latin typeface="Readex Pro" panose="020B0604020202020204" charset="-78"/>
                <a:cs typeface="Readex Pro" panose="020B0604020202020204" charset="-78"/>
              </a:rPr>
              <a:t>Bối</a:t>
            </a:r>
            <a:r>
              <a:rPr lang="en-US" sz="18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b="1" dirty="0" err="1">
                <a:latin typeface="Readex Pro" panose="020B0604020202020204" charset="-78"/>
                <a:cs typeface="Readex Pro" panose="020B0604020202020204" charset="-78"/>
              </a:rPr>
              <a:t>cảnh</a:t>
            </a:r>
            <a:endParaRPr lang="en-US" sz="18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	- Nhu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cầu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trữ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quản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điện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tử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ngày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càng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gia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tăng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b="1" dirty="0" err="1"/>
              <a:t>Vấn</a:t>
            </a:r>
            <a:r>
              <a:rPr lang="en-US" sz="1800" b="1" dirty="0"/>
              <a:t> </a:t>
            </a:r>
            <a:r>
              <a:rPr lang="en-US" sz="1800" b="1" dirty="0" err="1"/>
              <a:t>đề</a:t>
            </a:r>
            <a:r>
              <a:rPr lang="en-US" sz="1800" b="1" dirty="0"/>
              <a:t> </a:t>
            </a:r>
            <a:r>
              <a:rPr lang="en-US" sz="1800" b="1" dirty="0" err="1"/>
              <a:t>đặt</a:t>
            </a:r>
            <a:r>
              <a:rPr lang="en-US" sz="1800" b="1" dirty="0"/>
              <a:t> </a:t>
            </a:r>
            <a:r>
              <a:rPr lang="en-US" sz="1800" b="1" dirty="0" err="1"/>
              <a:t>ra</a:t>
            </a:r>
            <a:endParaRPr lang="en-US" sz="1800" b="1" dirty="0">
              <a:latin typeface="Readex Pro" panose="020B0604020202020204" charset="-78"/>
              <a:cs typeface="Readex Pro" panose="020B0604020202020204" charset="-78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Việc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trữ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trên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các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trực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tuyến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tiềm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ẩn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nhiều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nguy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cơ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như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truy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cập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trái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phép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rò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rỉ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đánh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cắp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thông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tin.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Đòi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hỏi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phải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có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một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giải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pháp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bảo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vệ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đảm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bảo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quyền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riêng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tư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của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người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dùng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b="1" dirty="0" err="1">
                <a:latin typeface="Readex Pro" panose="020B0604020202020204" charset="-78"/>
                <a:cs typeface="Readex Pro" panose="020B0604020202020204" charset="-78"/>
              </a:rPr>
              <a:t>Giải</a:t>
            </a:r>
            <a:r>
              <a:rPr lang="en-US" sz="18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b="1" dirty="0" err="1">
                <a:latin typeface="Readex Pro" panose="020B0604020202020204" charset="-78"/>
                <a:cs typeface="Readex Pro" panose="020B0604020202020204" charset="-78"/>
              </a:rPr>
              <a:t>pháp</a:t>
            </a:r>
            <a:r>
              <a:rPr lang="en-US" sz="18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endParaRPr lang="en-US" sz="1800" dirty="0">
              <a:latin typeface="Readex Pro" panose="020B0604020202020204" charset="-78"/>
              <a:cs typeface="Readex Pro" panose="020B0604020202020204" charset="-78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Xây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dựng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một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ứng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dụng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quản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trên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nền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tảng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web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áp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dụng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cơ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chế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hóa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trước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khi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trữ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để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nâng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cao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tính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bảo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an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toàn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800" dirty="0" err="1">
                <a:latin typeface="Readex Pro" panose="020B0604020202020204" charset="-78"/>
                <a:cs typeface="Readex Pro" panose="020B0604020202020204" charset="-78"/>
              </a:rPr>
              <a:t>thông</a:t>
            </a:r>
            <a:r>
              <a:rPr lang="en-US" sz="1800" dirty="0">
                <a:latin typeface="Readex Pro" panose="020B0604020202020204" charset="-78"/>
                <a:cs typeface="Readex Pro" panose="020B0604020202020204" charset="-78"/>
              </a:rPr>
              <a:t> tin.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120D78-BCA9-67B1-C5ED-27C822E99B3D}"/>
              </a:ext>
            </a:extLst>
          </p:cNvPr>
          <p:cNvSpPr/>
          <p:nvPr/>
        </p:nvSpPr>
        <p:spPr>
          <a:xfrm>
            <a:off x="940835" y="1374778"/>
            <a:ext cx="6101523" cy="391886"/>
          </a:xfrm>
          <a:prstGeom prst="roundRect">
            <a:avLst/>
          </a:prstGeom>
          <a:noFill/>
          <a:ln>
            <a:solidFill>
              <a:srgbClr val="00B0F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Đề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tài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nghiên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cứu</a:t>
            </a:r>
            <a:r>
              <a:rPr lang="en-US" b="1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tài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2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A243-6A44-4C12-1E2A-EBE64EC5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00A-E087-5AEF-73C9-8E475CFB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MỤC TIÊU VÀ NỘI DUNG NGHIÊN CỨU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164B79-8113-6E5B-D10E-E20DC5EE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097" y="1575998"/>
            <a:ext cx="10225654" cy="427429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 err="1"/>
              <a:t>Mục</a:t>
            </a:r>
            <a:r>
              <a:rPr lang="en-US" sz="1800" b="1" dirty="0"/>
              <a:t> </a:t>
            </a:r>
            <a:r>
              <a:rPr lang="en-US" sz="1800" b="1" dirty="0" err="1"/>
              <a:t>tiêu</a:t>
            </a:r>
            <a:r>
              <a:rPr lang="en-US" sz="1800" b="1" dirty="0"/>
              <a:t>:</a:t>
            </a:r>
            <a:endParaRPr lang="en-US" sz="1800" dirty="0"/>
          </a:p>
          <a:p>
            <a:r>
              <a:rPr lang="en-US" sz="1800" dirty="0"/>
              <a:t>	- </a:t>
            </a:r>
            <a:r>
              <a:rPr lang="en-US" sz="1800" dirty="0" err="1"/>
              <a:t>Xây</a:t>
            </a:r>
            <a:r>
              <a:rPr lang="en-US" sz="1800" dirty="0"/>
              <a:t> </a:t>
            </a:r>
            <a:r>
              <a:rPr lang="en-US" sz="1800" dirty="0" err="1"/>
              <a:t>dựng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quản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tài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mã</a:t>
            </a:r>
            <a:r>
              <a:rPr lang="en-US" sz="1800" dirty="0"/>
              <a:t> </a:t>
            </a:r>
            <a:r>
              <a:rPr lang="en-US" sz="1800" dirty="0" err="1"/>
              <a:t>hóa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</a:t>
            </a:r>
            <a:r>
              <a:rPr lang="en-US" sz="1800" dirty="0" err="1"/>
              <a:t>nền</a:t>
            </a:r>
            <a:r>
              <a:rPr lang="en-US" sz="1800" dirty="0"/>
              <a:t> </a:t>
            </a:r>
            <a:r>
              <a:rPr lang="en-US" sz="1800" dirty="0" err="1"/>
              <a:t>tảng</a:t>
            </a:r>
            <a:r>
              <a:rPr lang="en-US" sz="1800" dirty="0"/>
              <a:t> web.</a:t>
            </a:r>
          </a:p>
          <a:p>
            <a:r>
              <a:rPr lang="en-US" sz="1800" dirty="0"/>
              <a:t>	- </a:t>
            </a:r>
            <a:r>
              <a:rPr lang="en-US" sz="1800" dirty="0" err="1"/>
              <a:t>Đảm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tính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mật</a:t>
            </a:r>
            <a:r>
              <a:rPr lang="en-US" sz="1800" dirty="0"/>
              <a:t>, </a:t>
            </a:r>
            <a:r>
              <a:rPr lang="en-US" sz="1800" dirty="0" err="1"/>
              <a:t>toàn</a:t>
            </a:r>
            <a:r>
              <a:rPr lang="en-US" sz="1800" dirty="0"/>
              <a:t> </a:t>
            </a:r>
            <a:r>
              <a:rPr lang="en-US" sz="1800" dirty="0" err="1"/>
              <a:t>vẹn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an </a:t>
            </a:r>
            <a:r>
              <a:rPr lang="en-US" sz="1800" dirty="0" err="1"/>
              <a:t>toàn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dùng</a:t>
            </a:r>
            <a:r>
              <a:rPr lang="en-US" sz="1800" dirty="0"/>
              <a:t>. 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 err="1"/>
              <a:t>Nội</a:t>
            </a:r>
            <a:r>
              <a:rPr lang="en-US" sz="1800" b="1" dirty="0"/>
              <a:t> dung </a:t>
            </a:r>
            <a:r>
              <a:rPr lang="en-US" sz="1800" b="1" dirty="0" err="1"/>
              <a:t>nghiên</a:t>
            </a:r>
            <a:r>
              <a:rPr lang="en-US" sz="1800" b="1" dirty="0"/>
              <a:t> </a:t>
            </a:r>
            <a:r>
              <a:rPr lang="en-US" sz="1800" b="1" dirty="0" err="1"/>
              <a:t>cứu</a:t>
            </a:r>
            <a:r>
              <a:rPr lang="en-US" sz="1800" b="1" dirty="0"/>
              <a:t>:</a:t>
            </a:r>
            <a:endParaRPr lang="en-US" sz="1800" dirty="0"/>
          </a:p>
          <a:p>
            <a:r>
              <a:rPr lang="en-US" sz="1800" dirty="0"/>
              <a:t>	- </a:t>
            </a:r>
            <a:r>
              <a:rPr lang="en-US" sz="1800" dirty="0" err="1"/>
              <a:t>Nghiên</a:t>
            </a:r>
            <a:r>
              <a:rPr lang="en-US" sz="1800" dirty="0"/>
              <a:t> </a:t>
            </a:r>
            <a:r>
              <a:rPr lang="en-US" sz="1800" dirty="0" err="1"/>
              <a:t>cứu</a:t>
            </a:r>
            <a:r>
              <a:rPr lang="en-US" sz="1800" dirty="0"/>
              <a:t> </a:t>
            </a:r>
            <a:r>
              <a:rPr lang="en-US" sz="1800" dirty="0" err="1"/>
              <a:t>giải</a:t>
            </a:r>
            <a:r>
              <a:rPr lang="en-US" sz="1800" dirty="0"/>
              <a:t> </a:t>
            </a:r>
            <a:r>
              <a:rPr lang="en-US" sz="1800" dirty="0" err="1"/>
              <a:t>pháp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mật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mã</a:t>
            </a:r>
            <a:r>
              <a:rPr lang="en-US" sz="1800" dirty="0"/>
              <a:t> </a:t>
            </a:r>
            <a:r>
              <a:rPr lang="en-US" sz="1800" dirty="0" err="1"/>
              <a:t>hóa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. </a:t>
            </a:r>
          </a:p>
          <a:p>
            <a:r>
              <a:rPr lang="en-US" sz="1800" dirty="0"/>
              <a:t>	- </a:t>
            </a: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kế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xây</a:t>
            </a:r>
            <a:r>
              <a:rPr lang="en-US" sz="1800" dirty="0"/>
              <a:t> </a:t>
            </a:r>
            <a:r>
              <a:rPr lang="en-US" sz="1800" dirty="0" err="1"/>
              <a:t>dựng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áp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cơ</a:t>
            </a:r>
            <a:r>
              <a:rPr lang="en-US" sz="1800" dirty="0"/>
              <a:t> </a:t>
            </a:r>
            <a:r>
              <a:rPr lang="en-US" sz="1800" dirty="0" err="1"/>
              <a:t>chế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mật</a:t>
            </a:r>
            <a:r>
              <a:rPr lang="en-US" sz="1800" dirty="0"/>
              <a:t>. </a:t>
            </a:r>
          </a:p>
          <a:p>
            <a:r>
              <a:rPr lang="en-US" sz="1800" dirty="0"/>
              <a:t>	-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r>
              <a:rPr lang="en-US" sz="1800" dirty="0"/>
              <a:t>, </a:t>
            </a:r>
            <a:r>
              <a:rPr lang="en-US" sz="1800" dirty="0" err="1"/>
              <a:t>đánh</a:t>
            </a:r>
            <a:r>
              <a:rPr lang="en-US" sz="1800" dirty="0"/>
              <a:t> </a:t>
            </a:r>
            <a:r>
              <a:rPr lang="en-US" sz="1800" dirty="0" err="1"/>
              <a:t>giá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đề</a:t>
            </a:r>
            <a:r>
              <a:rPr lang="en-US" sz="1800" dirty="0"/>
              <a:t> </a:t>
            </a:r>
            <a:r>
              <a:rPr lang="en-US" sz="1800" dirty="0" err="1"/>
              <a:t>xuất</a:t>
            </a:r>
            <a:r>
              <a:rPr lang="en-US" sz="1800" dirty="0"/>
              <a:t> </a:t>
            </a:r>
            <a:r>
              <a:rPr lang="en-US" sz="1800" dirty="0" err="1"/>
              <a:t>hướng</a:t>
            </a:r>
            <a:r>
              <a:rPr lang="en-US" sz="1800" dirty="0"/>
              <a:t> </a:t>
            </a:r>
            <a:r>
              <a:rPr lang="en-US" sz="1800" dirty="0" err="1"/>
              <a:t>phát</a:t>
            </a:r>
            <a:r>
              <a:rPr lang="en-US" sz="1800" dirty="0"/>
              <a:t> </a:t>
            </a:r>
            <a:r>
              <a:rPr lang="en-US" sz="1800" dirty="0" err="1"/>
              <a:t>triển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918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8CBD-7446-D3C4-3B84-2564CFD4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24AA-C6B2-5EDE-320C-B1C45614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PHÂN TÍCH THIẾT KẾ HỆ THỐNG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221E4A-6E84-EF54-9E0D-EC21D7B11C0D}"/>
              </a:ext>
            </a:extLst>
          </p:cNvPr>
          <p:cNvSpPr txBox="1">
            <a:spLocks/>
          </p:cNvSpPr>
          <p:nvPr/>
        </p:nvSpPr>
        <p:spPr>
          <a:xfrm>
            <a:off x="838200" y="1044710"/>
            <a:ext cx="4328238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1.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Kiến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trúc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tổng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thể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F812252-1398-CAA7-593A-9C1BE3F4EBBA}"/>
              </a:ext>
            </a:extLst>
          </p:cNvPr>
          <p:cNvSpPr txBox="1">
            <a:spLocks/>
          </p:cNvSpPr>
          <p:nvPr/>
        </p:nvSpPr>
        <p:spPr>
          <a:xfrm>
            <a:off x="5061856" y="1979997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b="1" dirty="0" err="1"/>
              <a:t>Người</a:t>
            </a:r>
            <a:r>
              <a:rPr lang="en-US" sz="1500" b="1" dirty="0"/>
              <a:t> </a:t>
            </a:r>
            <a:r>
              <a:rPr lang="en-US" sz="1500" b="1" dirty="0" err="1"/>
              <a:t>dùng</a:t>
            </a:r>
            <a:r>
              <a:rPr lang="en-US" sz="1500" b="1" dirty="0"/>
              <a:t> - Client</a:t>
            </a:r>
            <a:endParaRPr lang="en-US" sz="1500" dirty="0"/>
          </a:p>
          <a:p>
            <a:r>
              <a:rPr lang="en-US" sz="1500" dirty="0"/>
              <a:t>- Giao </a:t>
            </a:r>
            <a:r>
              <a:rPr lang="en-US" sz="1500" dirty="0" err="1"/>
              <a:t>diện</a:t>
            </a:r>
            <a:r>
              <a:rPr lang="en-US" sz="1500" dirty="0"/>
              <a:t> </a:t>
            </a:r>
            <a:r>
              <a:rPr lang="en-US" sz="1500" dirty="0" err="1"/>
              <a:t>người</a:t>
            </a:r>
            <a:r>
              <a:rPr lang="en-US" sz="1500" dirty="0"/>
              <a:t> </a:t>
            </a:r>
            <a:r>
              <a:rPr lang="en-US" sz="1500" dirty="0" err="1"/>
              <a:t>dùng</a:t>
            </a:r>
            <a:r>
              <a:rPr lang="en-US" sz="1500" dirty="0"/>
              <a:t>, </a:t>
            </a:r>
            <a:r>
              <a:rPr lang="en-US" sz="1500" dirty="0" err="1"/>
              <a:t>thực</a:t>
            </a:r>
            <a:r>
              <a:rPr lang="en-US" sz="1500" dirty="0"/>
              <a:t> </a:t>
            </a:r>
            <a:r>
              <a:rPr lang="en-US" sz="1500" dirty="0" err="1"/>
              <a:t>hiện</a:t>
            </a:r>
            <a:r>
              <a:rPr lang="en-US" sz="1500" dirty="0"/>
              <a:t> </a:t>
            </a:r>
            <a:r>
              <a:rPr lang="en-US" sz="1500" dirty="0" err="1"/>
              <a:t>mã</a:t>
            </a:r>
            <a:r>
              <a:rPr lang="en-US" sz="1500" dirty="0"/>
              <a:t> </a:t>
            </a:r>
            <a:r>
              <a:rPr lang="en-US" sz="1500" dirty="0" err="1"/>
              <a:t>hóa</a:t>
            </a:r>
            <a:r>
              <a:rPr lang="en-US" sz="1500" dirty="0"/>
              <a:t> </a:t>
            </a:r>
            <a:r>
              <a:rPr lang="en-US" sz="1500" dirty="0" err="1"/>
              <a:t>và</a:t>
            </a:r>
            <a:r>
              <a:rPr lang="en-US" sz="1500" dirty="0"/>
              <a:t> </a:t>
            </a:r>
            <a:r>
              <a:rPr lang="en-US" sz="1500" dirty="0" err="1"/>
              <a:t>giải</a:t>
            </a:r>
            <a:r>
              <a:rPr lang="en-US" sz="1500" dirty="0"/>
              <a:t> </a:t>
            </a:r>
            <a:r>
              <a:rPr lang="en-US" sz="1500" dirty="0" err="1"/>
              <a:t>mã</a:t>
            </a:r>
            <a:r>
              <a:rPr lang="en-US" sz="1500" dirty="0"/>
              <a:t> </a:t>
            </a:r>
            <a:r>
              <a:rPr lang="en-US" sz="1500" dirty="0" err="1"/>
              <a:t>dữ</a:t>
            </a:r>
            <a:r>
              <a:rPr lang="en-US" sz="1500" dirty="0"/>
              <a:t> </a:t>
            </a:r>
            <a:r>
              <a:rPr lang="en-US" sz="1500" dirty="0" err="1"/>
              <a:t>liệu</a:t>
            </a:r>
            <a:r>
              <a:rPr lang="en-US" sz="1500" dirty="0"/>
              <a:t> </a:t>
            </a:r>
            <a:r>
              <a:rPr lang="en-US" sz="1500" dirty="0" err="1"/>
              <a:t>phía</a:t>
            </a:r>
            <a:r>
              <a:rPr lang="en-US" sz="1500" dirty="0"/>
              <a:t> Client. </a:t>
            </a:r>
          </a:p>
          <a:p>
            <a:r>
              <a:rPr lang="en-US" sz="1500" dirty="0"/>
              <a:t>- Công </a:t>
            </a:r>
            <a:r>
              <a:rPr lang="en-US" sz="1500" dirty="0" err="1"/>
              <a:t>nghệ</a:t>
            </a:r>
            <a:r>
              <a:rPr lang="en-US" sz="1500" dirty="0"/>
              <a:t>: ReactJS, Web Crypto API.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b="1" dirty="0" err="1"/>
              <a:t>Máy</a:t>
            </a:r>
            <a:r>
              <a:rPr lang="en-US" sz="1500" b="1" dirty="0"/>
              <a:t> </a:t>
            </a:r>
            <a:r>
              <a:rPr lang="en-US" sz="1500" b="1" dirty="0" err="1"/>
              <a:t>chủ</a:t>
            </a:r>
            <a:r>
              <a:rPr lang="en-US" sz="1500" b="1" dirty="0"/>
              <a:t> - Server</a:t>
            </a:r>
            <a:endParaRPr lang="en-US" sz="1500" dirty="0"/>
          </a:p>
          <a:p>
            <a:r>
              <a:rPr lang="en-US" sz="1500" dirty="0"/>
              <a:t>- </a:t>
            </a:r>
            <a:r>
              <a:rPr lang="en-US" sz="1500" dirty="0" err="1"/>
              <a:t>Xử</a:t>
            </a:r>
            <a:r>
              <a:rPr lang="en-US" sz="1500" dirty="0"/>
              <a:t> </a:t>
            </a:r>
            <a:r>
              <a:rPr lang="en-US" sz="1500" dirty="0" err="1"/>
              <a:t>lý</a:t>
            </a:r>
            <a:r>
              <a:rPr lang="en-US" sz="1500" dirty="0"/>
              <a:t> </a:t>
            </a:r>
            <a:r>
              <a:rPr lang="en-US" sz="1500" dirty="0" err="1"/>
              <a:t>các</a:t>
            </a:r>
            <a:r>
              <a:rPr lang="en-US" sz="1500" dirty="0"/>
              <a:t> </a:t>
            </a:r>
            <a:r>
              <a:rPr lang="en-US" sz="1500" dirty="0" err="1"/>
              <a:t>nghiệp</a:t>
            </a:r>
            <a:r>
              <a:rPr lang="en-US" sz="1500" dirty="0"/>
              <a:t> </a:t>
            </a:r>
            <a:r>
              <a:rPr lang="en-US" sz="1500" dirty="0" err="1"/>
              <a:t>vụ</a:t>
            </a:r>
            <a:r>
              <a:rPr lang="en-US" sz="1500" dirty="0"/>
              <a:t> </a:t>
            </a:r>
            <a:r>
              <a:rPr lang="en-US" sz="1500" dirty="0" err="1"/>
              <a:t>của</a:t>
            </a:r>
            <a:r>
              <a:rPr lang="en-US" sz="1500" dirty="0"/>
              <a:t> </a:t>
            </a:r>
            <a:r>
              <a:rPr lang="en-US" sz="1500" dirty="0" err="1"/>
              <a:t>hệ</a:t>
            </a:r>
            <a:r>
              <a:rPr lang="en-US" sz="1500" dirty="0"/>
              <a:t> </a:t>
            </a:r>
            <a:r>
              <a:rPr lang="en-US" sz="1500" dirty="0" err="1"/>
              <a:t>thống</a:t>
            </a:r>
            <a:r>
              <a:rPr lang="en-US" sz="1500" dirty="0"/>
              <a:t> </a:t>
            </a:r>
            <a:r>
              <a:rPr lang="en-US" sz="1500" dirty="0" err="1"/>
              <a:t>và</a:t>
            </a:r>
            <a:r>
              <a:rPr lang="en-US" sz="1500" dirty="0"/>
              <a:t> </a:t>
            </a:r>
            <a:r>
              <a:rPr lang="en-US" sz="1500" dirty="0" err="1"/>
              <a:t>cung</a:t>
            </a:r>
            <a:r>
              <a:rPr lang="en-US" sz="1500" dirty="0"/>
              <a:t> </a:t>
            </a:r>
            <a:r>
              <a:rPr lang="en-US" sz="1500" dirty="0" err="1"/>
              <a:t>cấp</a:t>
            </a:r>
            <a:r>
              <a:rPr lang="en-US" sz="1500" dirty="0"/>
              <a:t> API </a:t>
            </a:r>
            <a:r>
              <a:rPr lang="en-US" sz="1500" dirty="0" err="1"/>
              <a:t>cho</a:t>
            </a:r>
            <a:r>
              <a:rPr lang="en-US" sz="1500" dirty="0"/>
              <a:t> Client. </a:t>
            </a:r>
          </a:p>
          <a:p>
            <a:r>
              <a:rPr lang="en-US" sz="1500" dirty="0"/>
              <a:t>- Công </a:t>
            </a:r>
            <a:r>
              <a:rPr lang="en-US" sz="1500" dirty="0" err="1"/>
              <a:t>nghệ</a:t>
            </a:r>
            <a:r>
              <a:rPr lang="en-US" sz="1500" dirty="0"/>
              <a:t>: Node.js, </a:t>
            </a:r>
            <a:r>
              <a:rPr lang="en-US" sz="1500" dirty="0" err="1"/>
              <a:t>ExpressJS</a:t>
            </a:r>
            <a:r>
              <a:rPr lang="en-US" sz="15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b="1" dirty="0"/>
              <a:t>Lưu </a:t>
            </a:r>
            <a:r>
              <a:rPr lang="en-US" sz="1500" b="1" dirty="0" err="1"/>
              <a:t>trữ</a:t>
            </a:r>
            <a:endParaRPr lang="en-US" sz="1500" dirty="0"/>
          </a:p>
          <a:p>
            <a:r>
              <a:rPr lang="en-US" sz="1500" dirty="0"/>
              <a:t>- Lưu </a:t>
            </a:r>
            <a:r>
              <a:rPr lang="en-US" sz="1500" dirty="0" err="1"/>
              <a:t>trữ</a:t>
            </a:r>
            <a:r>
              <a:rPr lang="en-US" sz="1500" dirty="0"/>
              <a:t> </a:t>
            </a:r>
            <a:r>
              <a:rPr lang="en-US" sz="1500" dirty="0" err="1"/>
              <a:t>thông</a:t>
            </a:r>
            <a:r>
              <a:rPr lang="en-US" sz="1500" dirty="0"/>
              <a:t> tin </a:t>
            </a:r>
            <a:r>
              <a:rPr lang="en-US" sz="1500" dirty="0" err="1"/>
              <a:t>người</a:t>
            </a:r>
            <a:r>
              <a:rPr lang="en-US" sz="1500" dirty="0"/>
              <a:t> </a:t>
            </a:r>
            <a:r>
              <a:rPr lang="en-US" sz="1500" dirty="0" err="1"/>
              <a:t>dùng</a:t>
            </a:r>
            <a:r>
              <a:rPr lang="en-US" sz="1500" dirty="0"/>
              <a:t>, </a:t>
            </a:r>
            <a:r>
              <a:rPr lang="en-US" sz="1500" dirty="0" err="1"/>
              <a:t>tài</a:t>
            </a:r>
            <a:r>
              <a:rPr lang="en-US" sz="1500" dirty="0"/>
              <a:t> </a:t>
            </a:r>
            <a:r>
              <a:rPr lang="en-US" sz="1500" dirty="0" err="1"/>
              <a:t>liệu</a:t>
            </a:r>
            <a:r>
              <a:rPr lang="en-US" sz="1500" dirty="0"/>
              <a:t> </a:t>
            </a:r>
            <a:r>
              <a:rPr lang="en-US" sz="1500" dirty="0" err="1"/>
              <a:t>và</a:t>
            </a:r>
            <a:r>
              <a:rPr lang="en-US" sz="1500" dirty="0"/>
              <a:t> </a:t>
            </a:r>
            <a:r>
              <a:rPr lang="en-US" sz="1500" dirty="0" err="1"/>
              <a:t>các</a:t>
            </a:r>
            <a:r>
              <a:rPr lang="en-US" sz="1500" dirty="0"/>
              <a:t> </a:t>
            </a:r>
            <a:r>
              <a:rPr lang="en-US" sz="1500" dirty="0" err="1"/>
              <a:t>tập</a:t>
            </a:r>
            <a:r>
              <a:rPr lang="en-US" sz="1500" dirty="0"/>
              <a:t> tin </a:t>
            </a:r>
            <a:r>
              <a:rPr lang="en-US" sz="1500" dirty="0" err="1"/>
              <a:t>đã</a:t>
            </a:r>
            <a:r>
              <a:rPr lang="en-US" sz="1500" dirty="0"/>
              <a:t> </a:t>
            </a:r>
            <a:r>
              <a:rPr lang="en-US" sz="1500" dirty="0" err="1"/>
              <a:t>được</a:t>
            </a:r>
            <a:r>
              <a:rPr lang="en-US" sz="1500" dirty="0"/>
              <a:t> </a:t>
            </a:r>
            <a:r>
              <a:rPr lang="en-US" sz="1500" dirty="0" err="1"/>
              <a:t>mã</a:t>
            </a:r>
            <a:r>
              <a:rPr lang="en-US" sz="1500" dirty="0"/>
              <a:t> </a:t>
            </a:r>
            <a:r>
              <a:rPr lang="en-US" sz="1500" dirty="0" err="1"/>
              <a:t>hóa</a:t>
            </a:r>
            <a:r>
              <a:rPr lang="en-US" sz="1500" dirty="0"/>
              <a:t>. </a:t>
            </a:r>
          </a:p>
          <a:p>
            <a:r>
              <a:rPr lang="en-US" sz="1500" dirty="0"/>
              <a:t>- Công </a:t>
            </a:r>
            <a:r>
              <a:rPr lang="en-US" sz="1500" dirty="0" err="1"/>
              <a:t>nghệ</a:t>
            </a:r>
            <a:r>
              <a:rPr lang="en-US" sz="1500" dirty="0"/>
              <a:t>: MongoDB </a:t>
            </a:r>
            <a:r>
              <a:rPr lang="en-US" sz="1500" dirty="0" err="1"/>
              <a:t>và</a:t>
            </a:r>
            <a:r>
              <a:rPr lang="en-US" sz="1500" dirty="0"/>
              <a:t> Uploads Storage.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FE8017-5920-D878-625E-DB5F262B2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24" y="2294792"/>
            <a:ext cx="4346510" cy="27349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945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F373-12D9-16BC-124E-EAC48BEF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EEB4-23D9-E488-2F51-A0217DED3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PHÂN TÍCH THIẾT KẾ HỆ THỐNG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0E36C4-3DC4-5284-E517-2875F49BFAFE}"/>
              </a:ext>
            </a:extLst>
          </p:cNvPr>
          <p:cNvSpPr txBox="1">
            <a:spLocks/>
          </p:cNvSpPr>
          <p:nvPr/>
        </p:nvSpPr>
        <p:spPr>
          <a:xfrm>
            <a:off x="838200" y="1041547"/>
            <a:ext cx="4328238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2.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cơ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sở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790B6C-2A26-3459-AF1B-B6715A2B3D4C}"/>
              </a:ext>
            </a:extLst>
          </p:cNvPr>
          <p:cNvSpPr txBox="1">
            <a:spLocks/>
          </p:cNvSpPr>
          <p:nvPr/>
        </p:nvSpPr>
        <p:spPr>
          <a:xfrm>
            <a:off x="838200" y="1944581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EE1326-E363-7FE4-6640-B232202F1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1642596"/>
            <a:ext cx="6035563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4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A3A5-FC1A-7D6A-922C-A51686F97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97B5-E210-4740-BF89-CE921C46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PHÂN TÍCH THIẾT KẾ HỆ THỐNG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1C755A-E872-9D59-5EF4-C45C15F56D72}"/>
              </a:ext>
            </a:extLst>
          </p:cNvPr>
          <p:cNvSpPr txBox="1">
            <a:spLocks/>
          </p:cNvSpPr>
          <p:nvPr/>
        </p:nvSpPr>
        <p:spPr>
          <a:xfrm>
            <a:off x="838200" y="1004657"/>
            <a:ext cx="5257800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3.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xử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42A09D-A21D-0EFF-DF1B-D5271B556BE0}"/>
              </a:ext>
            </a:extLst>
          </p:cNvPr>
          <p:cNvSpPr txBox="1">
            <a:spLocks/>
          </p:cNvSpPr>
          <p:nvPr/>
        </p:nvSpPr>
        <p:spPr>
          <a:xfrm>
            <a:off x="838200" y="1944581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ACB53-16BC-7E2D-3ECF-FC4BF3461489}"/>
              </a:ext>
            </a:extLst>
          </p:cNvPr>
          <p:cNvSpPr txBox="1"/>
          <p:nvPr/>
        </p:nvSpPr>
        <p:spPr>
          <a:xfrm>
            <a:off x="1112286" y="1559894"/>
            <a:ext cx="102415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được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dựa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trên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năm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quy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trình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nghiệp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vụ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chính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, bao </a:t>
            </a:r>
            <a:r>
              <a:rPr lang="en-US" sz="2000" b="1" dirty="0" err="1">
                <a:latin typeface="Readex Pro" panose="020B0604020202020204" charset="-78"/>
                <a:cs typeface="Readex Pro" panose="020B0604020202020204" charset="-78"/>
              </a:rPr>
              <a:t>gồm</a:t>
            </a:r>
            <a:r>
              <a:rPr lang="en-US" sz="2000" b="1" dirty="0">
                <a:latin typeface="Readex Pro" panose="020B0604020202020204" charset="-78"/>
                <a:cs typeface="Readex Pro" panose="020B0604020202020204" charset="-78"/>
              </a:rPr>
              <a:t>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Đăng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ký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khởi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tạo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khóa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Đăng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nhập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khôi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phục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khóa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riêng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hóa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tải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lên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tệp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Giải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tải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xuống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tệp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Chia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sẻ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63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8CFF6-3775-F6F1-F96E-6FBAF39E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975F-6C12-9A77-3D1D-30E17ED9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PHÂN TÍCH THIẾT KẾ HỆ THỐNG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E70F28-167C-AC31-6A62-67049322103E}"/>
              </a:ext>
            </a:extLst>
          </p:cNvPr>
          <p:cNvSpPr txBox="1">
            <a:spLocks/>
          </p:cNvSpPr>
          <p:nvPr/>
        </p:nvSpPr>
        <p:spPr>
          <a:xfrm>
            <a:off x="838200" y="1061512"/>
            <a:ext cx="5257800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3.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xử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1B00C02-9897-3EAA-2DBA-A7AFA5C79730}"/>
              </a:ext>
            </a:extLst>
          </p:cNvPr>
          <p:cNvSpPr txBox="1">
            <a:spLocks/>
          </p:cNvSpPr>
          <p:nvPr/>
        </p:nvSpPr>
        <p:spPr>
          <a:xfrm>
            <a:off x="838200" y="1944581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540A7-617C-2766-ACB0-18C328BCED5C}"/>
              </a:ext>
            </a:extLst>
          </p:cNvPr>
          <p:cNvSpPr txBox="1"/>
          <p:nvPr/>
        </p:nvSpPr>
        <p:spPr>
          <a:xfrm>
            <a:off x="4399674" y="1490781"/>
            <a:ext cx="3392649" cy="307777"/>
          </a:xfrm>
          <a:prstGeom prst="rect">
            <a:avLst/>
          </a:prstGeom>
          <a:noFill/>
          <a:ln>
            <a:noFill/>
          </a:ln>
          <a:effectLst>
            <a:glow rad="63500">
              <a:srgbClr val="CCFFFF">
                <a:alpha val="40000"/>
              </a:srgb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1)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Đăng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ký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khởi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tạo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khóa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endParaRPr lang="en-US" sz="14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C42EBE-0A6A-5433-52EF-E2C5B4249B51}"/>
              </a:ext>
            </a:extLst>
          </p:cNvPr>
          <p:cNvSpPr txBox="1"/>
          <p:nvPr/>
        </p:nvSpPr>
        <p:spPr>
          <a:xfrm>
            <a:off x="3048778" y="326766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DB8F85A-4B39-DE20-7269-7DB376101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271" y="1811771"/>
            <a:ext cx="7079456" cy="46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5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EAA2-3ACB-07C4-AE1D-27B7DAFE8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AA6C-F366-8580-1150-8D6F60D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PHÂN TÍCH THIẾT KẾ HỆ THỐNG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31964E-CBFF-99C7-E837-6F6C4B16B182}"/>
              </a:ext>
            </a:extLst>
          </p:cNvPr>
          <p:cNvSpPr txBox="1">
            <a:spLocks/>
          </p:cNvSpPr>
          <p:nvPr/>
        </p:nvSpPr>
        <p:spPr>
          <a:xfrm>
            <a:off x="838198" y="1074570"/>
            <a:ext cx="5257800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3.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xử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D7EF2F-8400-F60B-5F42-D82C9DAD7877}"/>
              </a:ext>
            </a:extLst>
          </p:cNvPr>
          <p:cNvSpPr txBox="1">
            <a:spLocks/>
          </p:cNvSpPr>
          <p:nvPr/>
        </p:nvSpPr>
        <p:spPr>
          <a:xfrm>
            <a:off x="838200" y="1944581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323A9-8018-1E9B-2192-F647FCAB6AE8}"/>
              </a:ext>
            </a:extLst>
          </p:cNvPr>
          <p:cNvSpPr txBox="1"/>
          <p:nvPr/>
        </p:nvSpPr>
        <p:spPr>
          <a:xfrm>
            <a:off x="4363126" y="1584214"/>
            <a:ext cx="3465744" cy="307777"/>
          </a:xfrm>
          <a:prstGeom prst="rect">
            <a:avLst/>
          </a:prstGeom>
          <a:noFill/>
          <a:ln>
            <a:noFill/>
          </a:ln>
          <a:effectLst>
            <a:glow rad="63500">
              <a:srgbClr val="CCFFFF">
                <a:alpha val="40000"/>
              </a:srgb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2)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Đăng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nhập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khôi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phục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khóa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riêng</a:t>
            </a:r>
            <a:endParaRPr lang="en-US" sz="14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DE0FD9-A756-2F15-CD2F-6E0A77662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48" y="2066154"/>
            <a:ext cx="10900099" cy="440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6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E509-57A2-4B01-0F24-E518F236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FEA6-F2FE-8065-AC0A-6DA02FBF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PHÂN TÍCH THIẾT KẾ HỆ THỐNG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0AF5A0-59FA-E3C7-F918-7A62EBD675CB}"/>
              </a:ext>
            </a:extLst>
          </p:cNvPr>
          <p:cNvSpPr txBox="1">
            <a:spLocks/>
          </p:cNvSpPr>
          <p:nvPr/>
        </p:nvSpPr>
        <p:spPr>
          <a:xfrm>
            <a:off x="838198" y="1074570"/>
            <a:ext cx="5257800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3.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xử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06C48D6-A45D-E3A0-B3F8-2ED7B7221577}"/>
              </a:ext>
            </a:extLst>
          </p:cNvPr>
          <p:cNvSpPr txBox="1">
            <a:spLocks/>
          </p:cNvSpPr>
          <p:nvPr/>
        </p:nvSpPr>
        <p:spPr>
          <a:xfrm>
            <a:off x="838200" y="1944581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938E14-C72B-6171-89C3-B3CB2B37284F}"/>
              </a:ext>
            </a:extLst>
          </p:cNvPr>
          <p:cNvSpPr txBox="1"/>
          <p:nvPr/>
        </p:nvSpPr>
        <p:spPr>
          <a:xfrm>
            <a:off x="4960284" y="1514890"/>
            <a:ext cx="2271424" cy="377796"/>
          </a:xfrm>
          <a:prstGeom prst="rect">
            <a:avLst/>
          </a:prstGeom>
          <a:noFill/>
          <a:ln>
            <a:noFill/>
          </a:ln>
          <a:effectLst>
            <a:glow rad="63500">
              <a:srgbClr val="CCFFFF">
                <a:alpha val="40000"/>
              </a:srgb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3)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hóa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tải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lên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tệp</a:t>
            </a:r>
            <a:endParaRPr lang="en-US" sz="14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947752-0531-2662-AB8E-08AFD9EC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76" y="2016464"/>
            <a:ext cx="8297441" cy="42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4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648F-01DF-9FD3-9048-D0030AD9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E24A-7B36-B0BE-D9FA-AAFEF3FD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PHÂN TÍCH THIẾT KẾ HỆ THỐNG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5A86C6-9614-0D9C-1818-EF1B273A939A}"/>
              </a:ext>
            </a:extLst>
          </p:cNvPr>
          <p:cNvSpPr txBox="1">
            <a:spLocks/>
          </p:cNvSpPr>
          <p:nvPr/>
        </p:nvSpPr>
        <p:spPr>
          <a:xfrm>
            <a:off x="838198" y="1074570"/>
            <a:ext cx="5257800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3.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xử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108D47-58C7-D0E8-E86A-913052CBC461}"/>
              </a:ext>
            </a:extLst>
          </p:cNvPr>
          <p:cNvSpPr txBox="1">
            <a:spLocks/>
          </p:cNvSpPr>
          <p:nvPr/>
        </p:nvSpPr>
        <p:spPr>
          <a:xfrm>
            <a:off x="838200" y="1944581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D78E3-D31F-A2FF-18D9-48492502BA4D}"/>
              </a:ext>
            </a:extLst>
          </p:cNvPr>
          <p:cNvSpPr txBox="1"/>
          <p:nvPr/>
        </p:nvSpPr>
        <p:spPr>
          <a:xfrm>
            <a:off x="4850360" y="1522176"/>
            <a:ext cx="2491274" cy="377796"/>
          </a:xfrm>
          <a:prstGeom prst="rect">
            <a:avLst/>
          </a:prstGeom>
          <a:noFill/>
          <a:ln>
            <a:noFill/>
          </a:ln>
          <a:effectLst>
            <a:glow rad="63500">
              <a:srgbClr val="CCFFFF">
                <a:alpha val="40000"/>
              </a:srgb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4)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Giải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tải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xuống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tệp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67A5D8-2597-E05F-B5CB-0F65A0248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4" y="2019980"/>
            <a:ext cx="99536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26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D42B-5798-0455-6373-CC020DD3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44AB-2FA4-9506-A785-067ECA18D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PHÂN TÍCH THIẾT KẾ HỆ THỐNG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76E5ED-2A23-06B3-A8CF-0BD382B1EA43}"/>
              </a:ext>
            </a:extLst>
          </p:cNvPr>
          <p:cNvSpPr txBox="1">
            <a:spLocks/>
          </p:cNvSpPr>
          <p:nvPr/>
        </p:nvSpPr>
        <p:spPr>
          <a:xfrm>
            <a:off x="838198" y="1074570"/>
            <a:ext cx="5257800" cy="60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3.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Thiết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kế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xử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20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20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endParaRPr lang="en-US" sz="20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7B362FC-AB5F-7F51-71DA-B9A1C8EF7011}"/>
              </a:ext>
            </a:extLst>
          </p:cNvPr>
          <p:cNvSpPr txBox="1">
            <a:spLocks/>
          </p:cNvSpPr>
          <p:nvPr/>
        </p:nvSpPr>
        <p:spPr>
          <a:xfrm>
            <a:off x="838200" y="1944581"/>
            <a:ext cx="6756918" cy="3364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2CFE1-7082-4EFF-FB76-3E9621D34373}"/>
              </a:ext>
            </a:extLst>
          </p:cNvPr>
          <p:cNvSpPr txBox="1"/>
          <p:nvPr/>
        </p:nvSpPr>
        <p:spPr>
          <a:xfrm>
            <a:off x="5243800" y="1522176"/>
            <a:ext cx="1704393" cy="377796"/>
          </a:xfrm>
          <a:prstGeom prst="rect">
            <a:avLst/>
          </a:prstGeom>
          <a:noFill/>
          <a:ln>
            <a:noFill/>
          </a:ln>
          <a:effectLst>
            <a:glow rad="63500">
              <a:srgbClr val="CCFFFF">
                <a:alpha val="40000"/>
              </a:srgb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5) Chia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sẻ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endParaRPr lang="en-US" sz="1400" dirty="0">
              <a:latin typeface="Readex Pro" panose="020B0604020202020204" charset="-78"/>
              <a:cs typeface="Readex Pro" panose="020B0604020202020204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38F800-7A6A-AE2D-9836-E5BFC783C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9972"/>
            <a:ext cx="104394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6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D635-FA7C-A64D-834D-EC0A9023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88BD-B8DE-12AC-CB35-F9513C25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ĐÁNH GIÁ KIỂM THỬ HỆ THỐNG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D004-945B-79E2-1CD8-4EA634633417}"/>
              </a:ext>
            </a:extLst>
          </p:cNvPr>
          <p:cNvSpPr txBox="1"/>
          <p:nvPr/>
        </p:nvSpPr>
        <p:spPr>
          <a:xfrm>
            <a:off x="903515" y="1151480"/>
            <a:ext cx="9220978" cy="300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Tính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bảo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endParaRPr lang="en-US" sz="1600" dirty="0">
              <a:latin typeface="Readex Pro" panose="020B0604020202020204" charset="-78"/>
              <a:cs typeface="Readex Pro" panose="020B0604020202020204" charset="-7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được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hóa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trước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khi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trữ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Khóa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không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được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dưới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dạng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bản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rõ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Máy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chủ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không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thể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truy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cập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nội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dung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Khả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đáp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ứng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yêu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cầu</a:t>
            </a:r>
            <a:endParaRPr lang="en-US" sz="1600" dirty="0">
              <a:latin typeface="Readex Pro" panose="020B0604020202020204" charset="-78"/>
              <a:cs typeface="Readex Pro" panose="020B0604020202020204" charset="-7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Đáp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ứng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đầy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đủ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các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của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Hỗ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trợ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trữ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chia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sẻ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bảo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mật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hoạt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động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ổn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định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trong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quá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trình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kiểm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thử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EE14CB-E765-4918-0C0F-0729E5F7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7" t="15374" r="53241" b="19592"/>
          <a:stretch>
            <a:fillRect/>
          </a:stretch>
        </p:blipFill>
        <p:spPr>
          <a:xfrm>
            <a:off x="3168219" y="4305063"/>
            <a:ext cx="2138266" cy="1771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F0DDE6-B0E2-AAE5-A4A9-081231E4D7DD}"/>
              </a:ext>
            </a:extLst>
          </p:cNvPr>
          <p:cNvSpPr txBox="1"/>
          <p:nvPr/>
        </p:nvSpPr>
        <p:spPr>
          <a:xfrm>
            <a:off x="2841848" y="6076452"/>
            <a:ext cx="3092421" cy="307777"/>
          </a:xfrm>
          <a:prstGeom prst="rect">
            <a:avLst/>
          </a:prstGeom>
          <a:noFill/>
          <a:ln>
            <a:noFill/>
          </a:ln>
          <a:effectLst>
            <a:glow rad="63500">
              <a:srgbClr val="CCFFFF">
                <a:alpha val="40000"/>
              </a:srgb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Góc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nhìn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phía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người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dùng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- Client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CA419-223F-DAB7-1D96-805ECF231FBE}"/>
              </a:ext>
            </a:extLst>
          </p:cNvPr>
          <p:cNvSpPr txBox="1"/>
          <p:nvPr/>
        </p:nvSpPr>
        <p:spPr>
          <a:xfrm>
            <a:off x="6095998" y="6076452"/>
            <a:ext cx="3517191" cy="307777"/>
          </a:xfrm>
          <a:prstGeom prst="rect">
            <a:avLst/>
          </a:prstGeom>
          <a:noFill/>
          <a:ln>
            <a:noFill/>
          </a:ln>
          <a:effectLst>
            <a:glow rad="63500">
              <a:srgbClr val="CCFFFF">
                <a:alpha val="40000"/>
              </a:srgb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Góc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nhìn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phía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máy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400" dirty="0" err="1">
                <a:latin typeface="Readex Pro" panose="020B0604020202020204" charset="-78"/>
                <a:cs typeface="Readex Pro" panose="020B0604020202020204" charset="-78"/>
              </a:rPr>
              <a:t>chủ</a:t>
            </a:r>
            <a:r>
              <a:rPr lang="en-US" sz="1400" dirty="0">
                <a:latin typeface="Readex Pro" panose="020B0604020202020204" charset="-78"/>
                <a:cs typeface="Readex Pro" panose="020B0604020202020204" charset="-78"/>
              </a:rPr>
              <a:t> - Server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65EB85-2680-25AB-EB9D-C2C291551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34" t="15375" r="1249" b="21088"/>
          <a:stretch>
            <a:fillRect/>
          </a:stretch>
        </p:blipFill>
        <p:spPr>
          <a:xfrm>
            <a:off x="6703215" y="4327915"/>
            <a:ext cx="2302759" cy="17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3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D778-3E10-1A34-270B-CC315610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CB8B-5F7C-7B6F-C47E-55D3E14E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KẾT LUẬN VÀ HƯỚNG PHÁT TRIỂN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36835-0D71-EA08-F253-46157D64A331}"/>
              </a:ext>
            </a:extLst>
          </p:cNvPr>
          <p:cNvSpPr txBox="1"/>
          <p:nvPr/>
        </p:nvSpPr>
        <p:spPr>
          <a:xfrm>
            <a:off x="838200" y="1300609"/>
            <a:ext cx="10106609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Kết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quả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đạt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được</a:t>
            </a:r>
            <a:endParaRPr lang="en-US" sz="1600" b="1" dirty="0">
              <a:latin typeface="Readex Pro" panose="020B0604020202020204" charset="-78"/>
              <a:cs typeface="Readex Pro" panose="020B0604020202020204" charset="-7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Xây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dựng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thành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công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ứng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dụng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quản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có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hóa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trên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nền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tảng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web.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Tích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hợp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các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thuật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toán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PBKDF2, AES-256-GCM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RSA-OAEP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vào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quá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trình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bảo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vệ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dữ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Hoàn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thiện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các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quản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hóa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,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giải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mã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chia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sẻ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hoạt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động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ổn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định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đáp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ứng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các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mục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tiêu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của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đề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Hướng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phát</a:t>
            </a:r>
            <a:r>
              <a:rPr lang="en-US" sz="1600" b="1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b="1" dirty="0" err="1">
                <a:latin typeface="Readex Pro" panose="020B0604020202020204" charset="-78"/>
                <a:cs typeface="Readex Pro" panose="020B0604020202020204" charset="-78"/>
              </a:rPr>
              <a:t>triển</a:t>
            </a:r>
            <a:endParaRPr lang="en-US" sz="1600" b="1" dirty="0">
              <a:latin typeface="Readex Pro" panose="020B0604020202020204" charset="-78"/>
              <a:cs typeface="Readex Pro" panose="020B0604020202020204" charset="-7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Triển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khai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trên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môi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trường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thực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tế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tối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ưu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Mở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rộng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chức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chia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sẻ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phân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quyền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truy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cập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tài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liệu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Phát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triển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phiên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bản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ứng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dụng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di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động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tích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hợp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dịch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vụ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lưu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trữ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đám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mây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	-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Nâng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cao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cơ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chế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quản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lý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khóa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và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khả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năng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mở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rộng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của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hệ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 </a:t>
            </a:r>
            <a:r>
              <a:rPr lang="en-US" sz="1600" dirty="0" err="1">
                <a:latin typeface="Readex Pro" panose="020B0604020202020204" charset="-78"/>
                <a:cs typeface="Readex Pro" panose="020B0604020202020204" charset="-78"/>
              </a:rPr>
              <a:t>thống</a:t>
            </a:r>
            <a:r>
              <a:rPr lang="en-US" sz="1600" dirty="0">
                <a:latin typeface="Readex Pro" panose="020B0604020202020204" charset="-78"/>
                <a:cs typeface="Readex Pro" panose="020B0604020202020204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4649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BF58-37B3-2745-D0AF-CC16740A4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Tài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liệu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kham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khảo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D4C17-FAFD-7108-F58D-0E5909E5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262661"/>
            <a:ext cx="11188960" cy="5082156"/>
          </a:xfrm>
        </p:spPr>
        <p:txBody>
          <a:bodyPr>
            <a:noAutofit/>
          </a:bodyPr>
          <a:lstStyle/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Wikipedia contributors. (n.d.). </a:t>
            </a:r>
            <a:r>
              <a:rPr lang="en-US" sz="1300" i="1" dirty="0"/>
              <a:t>PBKDF2</a:t>
            </a:r>
            <a:r>
              <a:rPr lang="en-US" sz="1300" dirty="0"/>
              <a:t>. Wikipedia. </a:t>
            </a:r>
            <a:r>
              <a:rPr lang="en-US" sz="1300" u="sng" dirty="0">
                <a:hlinkClick r:id="rId2"/>
              </a:rPr>
              <a:t>https://en.wikipedia.org/wiki/PBKDF2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Asecuritysite.com. (n.d.). </a:t>
            </a:r>
            <a:r>
              <a:rPr lang="en-US" sz="1300" i="1" dirty="0"/>
              <a:t>Encrypting passwords with PBKDF2 (PowerShell)</a:t>
            </a:r>
            <a:r>
              <a:rPr lang="en-US" sz="1300" dirty="0"/>
              <a:t>. </a:t>
            </a:r>
            <a:r>
              <a:rPr lang="en-US" sz="1300" dirty="0" err="1"/>
              <a:t>Asecuritysite</a:t>
            </a:r>
            <a:r>
              <a:rPr lang="en-US" sz="1300" dirty="0"/>
              <a:t>. </a:t>
            </a:r>
            <a:r>
              <a:rPr lang="en-US" sz="1300" u="sng" dirty="0">
                <a:hlinkClick r:id="rId3"/>
              </a:rPr>
              <a:t>https://asecuritysite.com/powershell/ps_encpass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Asecuritysite.com. (n.d.). </a:t>
            </a:r>
            <a:r>
              <a:rPr lang="en-US" sz="1300" i="1" dirty="0"/>
              <a:t>AES encryption example (PowerShell)</a:t>
            </a:r>
            <a:r>
              <a:rPr lang="en-US" sz="1300" dirty="0"/>
              <a:t>. </a:t>
            </a:r>
            <a:r>
              <a:rPr lang="en-US" sz="1300" dirty="0" err="1"/>
              <a:t>Asecuritysite</a:t>
            </a:r>
            <a:r>
              <a:rPr lang="en-US" sz="1300" dirty="0"/>
              <a:t>. </a:t>
            </a:r>
            <a:r>
              <a:rPr lang="en-US" sz="1300" u="sng" dirty="0">
                <a:hlinkClick r:id="rId4"/>
              </a:rPr>
              <a:t>https://asecuritysite.com/powershell/enc04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Mozilla Developer Network. (n.d.). </a:t>
            </a:r>
            <a:r>
              <a:rPr lang="en-US" sz="1300" i="1" dirty="0"/>
              <a:t>Web Crypto API</a:t>
            </a:r>
            <a:r>
              <a:rPr lang="en-US" sz="1300" dirty="0"/>
              <a:t>. MDN Web Docs. </a:t>
            </a:r>
            <a:r>
              <a:rPr lang="en-US" sz="1300" u="sng" dirty="0">
                <a:hlinkClick r:id="rId5"/>
              </a:rPr>
              <a:t>https://developer.mozilla.org/en-US/docs/Web/API/Web_Crypto_API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 err="1"/>
              <a:t>Thangcoithongminh</a:t>
            </a:r>
            <a:r>
              <a:rPr lang="en-US" sz="1300" dirty="0"/>
              <a:t>. (n.d.). </a:t>
            </a:r>
            <a:r>
              <a:rPr lang="en-US" sz="1300" i="1" dirty="0" err="1"/>
              <a:t>Tìm</a:t>
            </a:r>
            <a:r>
              <a:rPr lang="en-US" sz="1300" i="1" dirty="0"/>
              <a:t> </a:t>
            </a:r>
            <a:r>
              <a:rPr lang="en-US" sz="1300" i="1" dirty="0" err="1"/>
              <a:t>hiểu</a:t>
            </a:r>
            <a:r>
              <a:rPr lang="en-US" sz="1300" i="1" dirty="0"/>
              <a:t> </a:t>
            </a:r>
            <a:r>
              <a:rPr lang="en-US" sz="1300" i="1" dirty="0" err="1"/>
              <a:t>về</a:t>
            </a:r>
            <a:r>
              <a:rPr lang="en-US" sz="1300" i="1" dirty="0"/>
              <a:t> AES-GCM </a:t>
            </a:r>
            <a:r>
              <a:rPr lang="en-US" sz="1300" i="1" dirty="0" err="1"/>
              <a:t>và</a:t>
            </a:r>
            <a:r>
              <a:rPr lang="en-US" sz="1300" i="1" dirty="0"/>
              <a:t> </a:t>
            </a:r>
            <a:r>
              <a:rPr lang="en-US" sz="1300" i="1" dirty="0" err="1"/>
              <a:t>ứng</a:t>
            </a:r>
            <a:r>
              <a:rPr lang="en-US" sz="1300" i="1" dirty="0"/>
              <a:t> </a:t>
            </a:r>
            <a:r>
              <a:rPr lang="en-US" sz="1300" i="1" dirty="0" err="1"/>
              <a:t>dụng</a:t>
            </a:r>
            <a:r>
              <a:rPr lang="en-US" sz="1300" i="1" dirty="0"/>
              <a:t> </a:t>
            </a:r>
            <a:r>
              <a:rPr lang="en-US" sz="1300" i="1" dirty="0" err="1"/>
              <a:t>trong</a:t>
            </a:r>
            <a:r>
              <a:rPr lang="en-US" sz="1300" i="1" dirty="0"/>
              <a:t> </a:t>
            </a:r>
            <a:r>
              <a:rPr lang="en-US" sz="1300" i="1" dirty="0" err="1"/>
              <a:t>mã</a:t>
            </a:r>
            <a:r>
              <a:rPr lang="en-US" sz="1300" i="1" dirty="0"/>
              <a:t> </a:t>
            </a:r>
            <a:r>
              <a:rPr lang="en-US" sz="1300" i="1" dirty="0" err="1"/>
              <a:t>hóa</a:t>
            </a:r>
            <a:r>
              <a:rPr lang="en-US" sz="1300" i="1" dirty="0"/>
              <a:t> </a:t>
            </a:r>
            <a:r>
              <a:rPr lang="en-US" sz="1300" i="1" dirty="0" err="1"/>
              <a:t>dữ</a:t>
            </a:r>
            <a:r>
              <a:rPr lang="en-US" sz="1300" i="1" dirty="0"/>
              <a:t> </a:t>
            </a:r>
            <a:r>
              <a:rPr lang="en-US" sz="1300" i="1" dirty="0" err="1"/>
              <a:t>liệu</a:t>
            </a:r>
            <a:r>
              <a:rPr lang="en-US" sz="1300" dirty="0"/>
              <a:t>. </a:t>
            </a:r>
            <a:r>
              <a:rPr lang="en-US" sz="1300" dirty="0" err="1"/>
              <a:t>HackMD</a:t>
            </a:r>
            <a:r>
              <a:rPr lang="en-US" sz="1300" dirty="0"/>
              <a:t>. </a:t>
            </a:r>
            <a:r>
              <a:rPr lang="en-US" sz="1300" u="sng" dirty="0">
                <a:hlinkClick r:id="rId6"/>
              </a:rPr>
              <a:t>https://hackmd.io/@Thangcoithongminh/ry3owiLX3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Turan, M. S., Barker, E., Burr, W., &amp; Chen, L. (2010). </a:t>
            </a:r>
            <a:r>
              <a:rPr lang="en-US" sz="1300" i="1" dirty="0"/>
              <a:t>Recommendation for Password-Based Key Derivation: Part 1—Storage Applications (NIST Special Publication 800-132)</a:t>
            </a:r>
            <a:r>
              <a:rPr lang="en-US" sz="1300" dirty="0"/>
              <a:t>. National Institute of Standards and Technology. </a:t>
            </a:r>
            <a:r>
              <a:rPr lang="en-US" sz="1300" u="sng" dirty="0">
                <a:hlinkClick r:id="rId7"/>
              </a:rPr>
              <a:t>https://csrc.nist.gov/pubs/sp/800/132/final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Moriarty, K., Kaliski, B., Rusch, A., &amp; Eronen, P. (2017). </a:t>
            </a:r>
            <a:r>
              <a:rPr lang="en-US" sz="1300" i="1" dirty="0"/>
              <a:t>PKCS #5: Password-Based Cryptography Specification Version 2.1 (RFC 8018)</a:t>
            </a:r>
            <a:r>
              <a:rPr lang="en-US" sz="1300" dirty="0"/>
              <a:t>. Internet Engineering Task Force. </a:t>
            </a:r>
            <a:r>
              <a:rPr lang="en-US" sz="1300" u="sng" dirty="0">
                <a:hlinkClick r:id="rId8"/>
              </a:rPr>
              <a:t>https://www.rfc-editor.org/rfc/rfc8018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National Institute of Standards and Technology. (2001). </a:t>
            </a:r>
            <a:r>
              <a:rPr lang="en-US" sz="1300" i="1" dirty="0"/>
              <a:t>Advanced Encryption Standard (AES) (FIPS PUB 197)</a:t>
            </a:r>
            <a:r>
              <a:rPr lang="en-US" sz="1300" dirty="0"/>
              <a:t>. U.S. Department of Commerce. </a:t>
            </a:r>
            <a:r>
              <a:rPr lang="en-US" sz="1300" u="sng" dirty="0">
                <a:hlinkClick r:id="rId9"/>
              </a:rPr>
              <a:t>https://csrc.nist.gov/pubs/fips/197/final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National Institute of Standards and Technology. (2007). </a:t>
            </a:r>
            <a:r>
              <a:rPr lang="en-US" sz="1300" i="1" dirty="0"/>
              <a:t>Recommendation for Block Cipher Modes of Operation: Galois/Counter Mode (GCM) and GMAC (NIST SP 800-38D)</a:t>
            </a:r>
            <a:r>
              <a:rPr lang="en-US" sz="1300" dirty="0"/>
              <a:t>. National Institute of Standards and Technology. </a:t>
            </a:r>
            <a:r>
              <a:rPr lang="en-US" sz="1300" u="sng" dirty="0">
                <a:hlinkClick r:id="rId10"/>
              </a:rPr>
              <a:t>https://csrc.nist.gov/pubs/sp/800/38/d/final</a:t>
            </a:r>
            <a:r>
              <a:rPr lang="en-US" sz="1300" dirty="0"/>
              <a:t> 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US" sz="1300" dirty="0"/>
              <a:t>Open Web Application Security Project. (n.d.). </a:t>
            </a:r>
            <a:r>
              <a:rPr lang="en-US" sz="1300" i="1" dirty="0"/>
              <a:t>Password Storage Cheat Sheet</a:t>
            </a:r>
            <a:r>
              <a:rPr lang="en-US" sz="1300" dirty="0"/>
              <a:t>. </a:t>
            </a:r>
            <a:r>
              <a:rPr lang="en-US" sz="1300" u="sng" dirty="0">
                <a:hlinkClick r:id="rId11"/>
              </a:rPr>
              <a:t>https://cheatsheetseries.owasp.org/cheatsheets/Password_Storage_Cheat_Sheet.html</a:t>
            </a:r>
            <a:endParaRPr lang="en-US" sz="1300" dirty="0"/>
          </a:p>
          <a:p>
            <a:pPr marL="342900" indent="-342900" algn="l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35729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3384E-F602-15D2-C505-39D55FF6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74F3-799A-459F-B5E0-D8072CF7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90487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CÁM ƠN THẦY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7701</TotalTime>
  <Words>1347</Words>
  <Application>Microsoft Office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 New Roman</vt:lpstr>
      <vt:lpstr>Arial</vt:lpstr>
      <vt:lpstr>Readex Pro</vt:lpstr>
      <vt:lpstr>Wingdings</vt:lpstr>
      <vt:lpstr>K2D</vt:lpstr>
      <vt:lpstr>Barlow</vt:lpstr>
      <vt:lpstr>Office Theme</vt:lpstr>
      <vt:lpstr>PowerPoint Presentation</vt:lpstr>
      <vt:lpstr>NỘI DUNG TRÌNH BÀY</vt:lpstr>
      <vt:lpstr>GIỚI THIỆU ĐỀ TÀI</vt:lpstr>
      <vt:lpstr>MỤC TIÊU VÀ NỘI DUNG NGHIÊN CỨU </vt:lpstr>
      <vt:lpstr>PHÂN TÍCH THIẾT KẾ HỆ THỐNG</vt:lpstr>
      <vt:lpstr>PHÂN TÍCH THIẾT KẾ HỆ THỐNG</vt:lpstr>
      <vt:lpstr>PHÂN TÍCH THIẾT KẾ HỆ THỐNG</vt:lpstr>
      <vt:lpstr>PHÂN TÍCH THIẾT KẾ HỆ THỐNG</vt:lpstr>
      <vt:lpstr>PHÂN TÍCH THIẾT KẾ HỆ THỐNG</vt:lpstr>
      <vt:lpstr>PHÂN TÍCH THIẾT KẾ HỆ THỐNG</vt:lpstr>
      <vt:lpstr>PHÂN TÍCH THIẾT KẾ HỆ THỐNG</vt:lpstr>
      <vt:lpstr>PHÂN TÍCH THIẾT KẾ HỆ THỐNG</vt:lpstr>
      <vt:lpstr>ĐÁNH GIÁ KIỂM THỬ HỆ THỐNG</vt:lpstr>
      <vt:lpstr>KẾT LUẬN VÀ HƯỚNG PHÁT TRIỂN</vt:lpstr>
      <vt:lpstr>Tài liệu kham khảo</vt:lpstr>
      <vt:lpstr>DEMO</vt:lpstr>
      <vt:lpstr>CÁM ƠN THẦY ĐÃ LẮNG NGHE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Nguyen Thi Truc Ngan</cp:lastModifiedBy>
  <cp:revision>298</cp:revision>
  <dcterms:created xsi:type="dcterms:W3CDTF">2022-07-01T08:15:51Z</dcterms:created>
  <dcterms:modified xsi:type="dcterms:W3CDTF">2026-07-25T16:54:59Z</dcterms:modified>
</cp:coreProperties>
</file>